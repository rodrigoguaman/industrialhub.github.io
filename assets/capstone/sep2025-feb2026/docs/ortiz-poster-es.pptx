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0276800" cy="42760900"/>
  <p:notesSz cx="6858000" cy="9144000"/>
  <p:embeddedFontLst>
    <p:embeddedFont>
      <p:font typeface="Times New Roman MT" panose="020B0604020202020204" charset="0"/>
      <p:regular r:id="rId3"/>
    </p:embeddedFont>
    <p:embeddedFont>
      <p:font typeface="Times New Roman MT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20" d="100"/>
          <a:sy n="20" d="100"/>
        </p:scale>
        <p:origin x="125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563" y="-180893"/>
            <a:ext cx="30276000" cy="1551645"/>
          </a:xfrm>
          <a:custGeom>
            <a:avLst/>
            <a:gdLst/>
            <a:ahLst/>
            <a:cxnLst/>
            <a:rect l="l" t="t" r="r" b="b"/>
            <a:pathLst>
              <a:path w="30276000" h="1551645">
                <a:moveTo>
                  <a:pt x="0" y="0"/>
                </a:moveTo>
                <a:lnTo>
                  <a:pt x="30276000" y="0"/>
                </a:lnTo>
                <a:lnTo>
                  <a:pt x="30276000" y="1551645"/>
                </a:lnTo>
                <a:lnTo>
                  <a:pt x="0" y="1551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3208" y="824452"/>
            <a:ext cx="31350006" cy="2078316"/>
            <a:chOff x="0" y="0"/>
            <a:chExt cx="3009411" cy="1995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09411" cy="199506"/>
            </a:xfrm>
            <a:custGeom>
              <a:avLst/>
              <a:gdLst/>
              <a:ahLst/>
              <a:cxnLst/>
              <a:rect l="l" t="t" r="r" b="b"/>
              <a:pathLst>
                <a:path w="3009411" h="199506">
                  <a:moveTo>
                    <a:pt x="0" y="0"/>
                  </a:moveTo>
                  <a:lnTo>
                    <a:pt x="3009411" y="0"/>
                  </a:lnTo>
                  <a:lnTo>
                    <a:pt x="3009411" y="199506"/>
                  </a:lnTo>
                  <a:lnTo>
                    <a:pt x="0" y="199506"/>
                  </a:ln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009411" cy="256656"/>
            </a:xfrm>
            <a:prstGeom prst="rect">
              <a:avLst/>
            </a:prstGeom>
          </p:spPr>
          <p:txBody>
            <a:bodyPr lIns="46667" tIns="46667" rIns="46667" bIns="46667" rtlCol="0" anchor="ctr"/>
            <a:lstStyle/>
            <a:p>
              <a:pPr algn="ctr">
                <a:lnSpc>
                  <a:spcPts val="372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6616" y="7260567"/>
            <a:ext cx="3867236" cy="3050712"/>
            <a:chOff x="0" y="-103179"/>
            <a:chExt cx="377121" cy="2974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193" y="-103179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Resumen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930815" y="787862"/>
            <a:ext cx="5660099" cy="2037636"/>
          </a:xfrm>
          <a:custGeom>
            <a:avLst/>
            <a:gdLst/>
            <a:ahLst/>
            <a:cxnLst/>
            <a:rect l="l" t="t" r="r" b="b"/>
            <a:pathLst>
              <a:path w="5660099" h="2037636">
                <a:moveTo>
                  <a:pt x="0" y="0"/>
                </a:moveTo>
                <a:lnTo>
                  <a:pt x="5660099" y="0"/>
                </a:lnTo>
                <a:lnTo>
                  <a:pt x="5660099" y="2037635"/>
                </a:lnTo>
                <a:lnTo>
                  <a:pt x="0" y="2037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258962" y="1038212"/>
            <a:ext cx="13541370" cy="2132766"/>
          </a:xfrm>
          <a:custGeom>
            <a:avLst/>
            <a:gdLst/>
            <a:ahLst/>
            <a:cxnLst/>
            <a:rect l="l" t="t" r="r" b="b"/>
            <a:pathLst>
              <a:path w="13541370" h="2132766">
                <a:moveTo>
                  <a:pt x="0" y="0"/>
                </a:moveTo>
                <a:lnTo>
                  <a:pt x="13541370" y="0"/>
                </a:lnTo>
                <a:lnTo>
                  <a:pt x="13541370" y="2132765"/>
                </a:lnTo>
                <a:lnTo>
                  <a:pt x="0" y="21327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C" dirty="0"/>
          </a:p>
        </p:txBody>
      </p:sp>
      <p:sp>
        <p:nvSpPr>
          <p:cNvPr id="11" name="Freeform 11"/>
          <p:cNvSpPr/>
          <p:nvPr/>
        </p:nvSpPr>
        <p:spPr>
          <a:xfrm>
            <a:off x="4523847" y="8318626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454738" y="11779018"/>
            <a:ext cx="4002453" cy="3050712"/>
            <a:chOff x="-20379" y="-101353"/>
            <a:chExt cx="390307" cy="29749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-20379" y="-101353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Objetivos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4530948" y="12818352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6" name="Group 16"/>
          <p:cNvGrpSpPr/>
          <p:nvPr/>
        </p:nvGrpSpPr>
        <p:grpSpPr>
          <a:xfrm rot="-10800000">
            <a:off x="521953" y="14668038"/>
            <a:ext cx="7329029" cy="3131148"/>
            <a:chOff x="0" y="0"/>
            <a:chExt cx="1401666" cy="59882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243651" y="16040118"/>
            <a:ext cx="3700551" cy="1506663"/>
            <a:chOff x="0" y="0"/>
            <a:chExt cx="641376" cy="261133"/>
          </a:xfrm>
        </p:grpSpPr>
        <p:sp>
          <p:nvSpPr>
            <p:cNvPr id="20" name="Freeform 20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-10800000">
            <a:off x="521953" y="14668038"/>
            <a:ext cx="2124984" cy="3131148"/>
            <a:chOff x="0" y="0"/>
            <a:chExt cx="406400" cy="59882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-1185345" y="19981982"/>
            <a:ext cx="7329029" cy="3131148"/>
            <a:chOff x="0" y="0"/>
            <a:chExt cx="1401666" cy="598827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10800000">
            <a:off x="1188731" y="17886765"/>
            <a:ext cx="3700551" cy="1506663"/>
            <a:chOff x="0" y="0"/>
            <a:chExt cx="641376" cy="261133"/>
          </a:xfrm>
        </p:grpSpPr>
        <p:sp>
          <p:nvSpPr>
            <p:cNvPr id="29" name="Freeform 29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416678" y="22584005"/>
            <a:ext cx="2124984" cy="3131148"/>
            <a:chOff x="0" y="0"/>
            <a:chExt cx="406400" cy="59882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5400000">
            <a:off x="3093246" y="21893319"/>
            <a:ext cx="3700551" cy="1506663"/>
            <a:chOff x="0" y="0"/>
            <a:chExt cx="641376" cy="261133"/>
          </a:xfrm>
        </p:grpSpPr>
        <p:sp>
          <p:nvSpPr>
            <p:cNvPr id="35" name="Freeform 35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186467" y="21640914"/>
            <a:ext cx="7329029" cy="3131148"/>
            <a:chOff x="0" y="0"/>
            <a:chExt cx="1401666" cy="59882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390512" y="21640914"/>
            <a:ext cx="2124984" cy="3131148"/>
            <a:chOff x="0" y="0"/>
            <a:chExt cx="406400" cy="59882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 rot="-5400000">
            <a:off x="5889015" y="16317468"/>
            <a:ext cx="7329029" cy="3131148"/>
            <a:chOff x="0" y="0"/>
            <a:chExt cx="1401666" cy="598827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01666" cy="598827"/>
            </a:xfrm>
            <a:custGeom>
              <a:avLst/>
              <a:gdLst/>
              <a:ahLst/>
              <a:cxnLst/>
              <a:rect l="l" t="t" r="r" b="b"/>
              <a:pathLst>
                <a:path w="1401666" h="598827">
                  <a:moveTo>
                    <a:pt x="1198466" y="0"/>
                  </a:moveTo>
                  <a:cubicBezTo>
                    <a:pt x="1310690" y="0"/>
                    <a:pt x="1401666" y="134052"/>
                    <a:pt x="1401666" y="299414"/>
                  </a:cubicBezTo>
                  <a:cubicBezTo>
                    <a:pt x="1401666" y="464775"/>
                    <a:pt x="1310690" y="598827"/>
                    <a:pt x="1198466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401666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143417" y="20037170"/>
            <a:ext cx="3700551" cy="1506663"/>
            <a:chOff x="0" y="0"/>
            <a:chExt cx="641376" cy="261133"/>
          </a:xfrm>
        </p:grpSpPr>
        <p:sp>
          <p:nvSpPr>
            <p:cNvPr id="47" name="Freeform 47"/>
            <p:cNvSpPr/>
            <p:nvPr/>
          </p:nvSpPr>
          <p:spPr>
            <a:xfrm>
              <a:off x="51990" y="0"/>
              <a:ext cx="537395" cy="261133"/>
            </a:xfrm>
            <a:custGeom>
              <a:avLst/>
              <a:gdLst/>
              <a:ahLst/>
              <a:cxnLst/>
              <a:rect l="l" t="t" r="r" b="b"/>
              <a:pathLst>
                <a:path w="537395" h="261133">
                  <a:moveTo>
                    <a:pt x="272996" y="0"/>
                  </a:moveTo>
                  <a:lnTo>
                    <a:pt x="494587" y="0"/>
                  </a:lnTo>
                  <a:cubicBezTo>
                    <a:pt x="511412" y="0"/>
                    <a:pt x="526677" y="9856"/>
                    <a:pt x="533601" y="25190"/>
                  </a:cubicBezTo>
                  <a:cubicBezTo>
                    <a:pt x="540526" y="40524"/>
                    <a:pt x="537825" y="58492"/>
                    <a:pt x="526699" y="71114"/>
                  </a:cubicBezTo>
                  <a:lnTo>
                    <a:pt x="421884" y="190020"/>
                  </a:lnTo>
                  <a:cubicBezTo>
                    <a:pt x="382031" y="235231"/>
                    <a:pt x="324669" y="261133"/>
                    <a:pt x="264400" y="261133"/>
                  </a:cubicBezTo>
                  <a:lnTo>
                    <a:pt x="42808" y="261133"/>
                  </a:lnTo>
                  <a:cubicBezTo>
                    <a:pt x="25983" y="261133"/>
                    <a:pt x="10719" y="251277"/>
                    <a:pt x="3794" y="235943"/>
                  </a:cubicBezTo>
                  <a:cubicBezTo>
                    <a:pt x="-3130" y="220609"/>
                    <a:pt x="-429" y="202641"/>
                    <a:pt x="10696" y="190020"/>
                  </a:cubicBezTo>
                  <a:lnTo>
                    <a:pt x="115511" y="71114"/>
                  </a:lnTo>
                  <a:cubicBezTo>
                    <a:pt x="155365" y="25902"/>
                    <a:pt x="212727" y="0"/>
                    <a:pt x="272996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254000" y="-57150"/>
              <a:ext cx="133376" cy="318283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 rot="-5400000">
            <a:off x="8491037" y="13605546"/>
            <a:ext cx="2124984" cy="3131148"/>
            <a:chOff x="0" y="0"/>
            <a:chExt cx="406400" cy="59882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06400" cy="598827"/>
            </a:xfrm>
            <a:custGeom>
              <a:avLst/>
              <a:gdLst/>
              <a:ahLst/>
              <a:cxnLst/>
              <a:rect l="l" t="t" r="r" b="b"/>
              <a:pathLst>
                <a:path w="406400" h="598827">
                  <a:moveTo>
                    <a:pt x="203200" y="0"/>
                  </a:moveTo>
                  <a:cubicBezTo>
                    <a:pt x="315424" y="0"/>
                    <a:pt x="406400" y="134052"/>
                    <a:pt x="406400" y="299414"/>
                  </a:cubicBezTo>
                  <a:cubicBezTo>
                    <a:pt x="406400" y="464775"/>
                    <a:pt x="315424" y="598827"/>
                    <a:pt x="203200" y="598827"/>
                  </a:cubicBezTo>
                  <a:lnTo>
                    <a:pt x="203200" y="598827"/>
                  </a:lnTo>
                  <a:cubicBezTo>
                    <a:pt x="90976" y="598827"/>
                    <a:pt x="0" y="464775"/>
                    <a:pt x="0" y="299414"/>
                  </a:cubicBezTo>
                  <a:cubicBezTo>
                    <a:pt x="0" y="13405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406400" cy="655977"/>
            </a:xfrm>
            <a:prstGeom prst="rect">
              <a:avLst/>
            </a:prstGeom>
          </p:spPr>
          <p:txBody>
            <a:bodyPr lIns="23770" tIns="23770" rIns="23770" bIns="2377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795855" y="18467861"/>
            <a:ext cx="2563054" cy="2563054"/>
            <a:chOff x="0" y="0"/>
            <a:chExt cx="812800" cy="8128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3C3C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5" name="Freeform 55"/>
          <p:cNvSpPr/>
          <p:nvPr/>
        </p:nvSpPr>
        <p:spPr>
          <a:xfrm flipH="1">
            <a:off x="5429644" y="19101651"/>
            <a:ext cx="1295475" cy="1295475"/>
          </a:xfrm>
          <a:custGeom>
            <a:avLst/>
            <a:gdLst/>
            <a:ahLst/>
            <a:cxnLst/>
            <a:rect l="l" t="t" r="r" b="b"/>
            <a:pathLst>
              <a:path w="1295475" h="1295475">
                <a:moveTo>
                  <a:pt x="1295475" y="0"/>
                </a:moveTo>
                <a:lnTo>
                  <a:pt x="0" y="0"/>
                </a:lnTo>
                <a:lnTo>
                  <a:pt x="0" y="1295475"/>
                </a:lnTo>
                <a:lnTo>
                  <a:pt x="1295475" y="1295475"/>
                </a:lnTo>
                <a:lnTo>
                  <a:pt x="129547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6" name="Group 56"/>
          <p:cNvGrpSpPr/>
          <p:nvPr/>
        </p:nvGrpSpPr>
        <p:grpSpPr>
          <a:xfrm>
            <a:off x="1529367" y="27845469"/>
            <a:ext cx="2911889" cy="2911889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269503" y="28347782"/>
            <a:ext cx="7365443" cy="1890952"/>
            <a:chOff x="0" y="0"/>
            <a:chExt cx="1923541" cy="49383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25400" y="-95250"/>
              <a:ext cx="1694941" cy="589086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62" name="Group 62"/>
          <p:cNvGrpSpPr/>
          <p:nvPr/>
        </p:nvGrpSpPr>
        <p:grpSpPr>
          <a:xfrm rot="-5400000">
            <a:off x="2841958" y="28115143"/>
            <a:ext cx="2883299" cy="2401131"/>
            <a:chOff x="0" y="0"/>
            <a:chExt cx="780901" cy="650313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5A5856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139665" y="28489747"/>
            <a:ext cx="1691293" cy="1691293"/>
            <a:chOff x="0" y="0"/>
            <a:chExt cx="812800" cy="81280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7" name="TextBox 67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1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4705330" y="28450116"/>
            <a:ext cx="5394669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Identificación de riesgos y revisión de literatura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Consultas al personal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Identificación de riesgos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Revisión de Literatura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537308" y="32472035"/>
            <a:ext cx="2911889" cy="2911889"/>
            <a:chOff x="0" y="0"/>
            <a:chExt cx="812800" cy="81280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3277444" y="32974347"/>
            <a:ext cx="7365443" cy="1890952"/>
            <a:chOff x="0" y="0"/>
            <a:chExt cx="1923541" cy="49383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25400" y="-95250"/>
              <a:ext cx="1694941" cy="589086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 rot="-5400000">
            <a:off x="2849900" y="32741709"/>
            <a:ext cx="2883299" cy="2401131"/>
            <a:chOff x="0" y="0"/>
            <a:chExt cx="780901" cy="650313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147606" y="33116312"/>
            <a:ext cx="1691293" cy="1691293"/>
            <a:chOff x="0" y="0"/>
            <a:chExt cx="812800" cy="8128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0" name="TextBox 80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0834" tIns="30834" rIns="30834" bIns="30834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3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 rot="-10800000">
            <a:off x="9845577" y="30021789"/>
            <a:ext cx="2911889" cy="2911889"/>
            <a:chOff x="0" y="0"/>
            <a:chExt cx="812800" cy="81280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83" name="TextBox 83"/>
            <p:cNvSpPr txBox="1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84" name="Group 84"/>
          <p:cNvGrpSpPr/>
          <p:nvPr/>
        </p:nvGrpSpPr>
        <p:grpSpPr>
          <a:xfrm rot="-10800000">
            <a:off x="3651887" y="30540414"/>
            <a:ext cx="7365443" cy="1890952"/>
            <a:chOff x="0" y="0"/>
            <a:chExt cx="1923541" cy="493836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923541" cy="493836"/>
            </a:xfrm>
            <a:custGeom>
              <a:avLst/>
              <a:gdLst/>
              <a:ahLst/>
              <a:cxnLst/>
              <a:rect l="l" t="t" r="r" b="b"/>
              <a:pathLst>
                <a:path w="1923541" h="493836">
                  <a:moveTo>
                    <a:pt x="58337" y="0"/>
                  </a:moveTo>
                  <a:lnTo>
                    <a:pt x="1681035" y="0"/>
                  </a:lnTo>
                  <a:cubicBezTo>
                    <a:pt x="1828609" y="0"/>
                    <a:pt x="1923541" y="110549"/>
                    <a:pt x="1923541" y="246918"/>
                  </a:cubicBezTo>
                  <a:cubicBezTo>
                    <a:pt x="1923541" y="383287"/>
                    <a:pt x="1828609" y="493836"/>
                    <a:pt x="1681035" y="493836"/>
                  </a:cubicBezTo>
                  <a:lnTo>
                    <a:pt x="58337" y="493836"/>
                  </a:lnTo>
                  <a:cubicBezTo>
                    <a:pt x="42865" y="493836"/>
                    <a:pt x="28027" y="487690"/>
                    <a:pt x="17086" y="476750"/>
                  </a:cubicBezTo>
                  <a:cubicBezTo>
                    <a:pt x="6146" y="465810"/>
                    <a:pt x="0" y="450971"/>
                    <a:pt x="0" y="435499"/>
                  </a:cubicBezTo>
                  <a:lnTo>
                    <a:pt x="0" y="58337"/>
                  </a:lnTo>
                  <a:cubicBezTo>
                    <a:pt x="0" y="42865"/>
                    <a:pt x="6146" y="28027"/>
                    <a:pt x="17086" y="17086"/>
                  </a:cubicBezTo>
                  <a:cubicBezTo>
                    <a:pt x="28027" y="6146"/>
                    <a:pt x="42865" y="0"/>
                    <a:pt x="58337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86" name="TextBox 86"/>
            <p:cNvSpPr txBox="1"/>
            <p:nvPr/>
          </p:nvSpPr>
          <p:spPr>
            <a:xfrm>
              <a:off x="25400" y="-47625"/>
              <a:ext cx="1694941" cy="541461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7" name="Group 87"/>
          <p:cNvGrpSpPr/>
          <p:nvPr/>
        </p:nvGrpSpPr>
        <p:grpSpPr>
          <a:xfrm rot="5400000">
            <a:off x="8561576" y="30262873"/>
            <a:ext cx="2883299" cy="2401131"/>
            <a:chOff x="0" y="0"/>
            <a:chExt cx="780901" cy="650313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80902" cy="650313"/>
            </a:xfrm>
            <a:custGeom>
              <a:avLst/>
              <a:gdLst/>
              <a:ahLst/>
              <a:cxnLst/>
              <a:rect l="l" t="t" r="r" b="b"/>
              <a:pathLst>
                <a:path w="780902" h="650313">
                  <a:moveTo>
                    <a:pt x="203200" y="650313"/>
                  </a:moveTo>
                  <a:lnTo>
                    <a:pt x="577702" y="650313"/>
                  </a:lnTo>
                  <a:lnTo>
                    <a:pt x="780902" y="0"/>
                  </a:lnTo>
                  <a:lnTo>
                    <a:pt x="0" y="0"/>
                  </a:lnTo>
                  <a:lnTo>
                    <a:pt x="203200" y="650313"/>
                  </a:ln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89" name="TextBox 89"/>
            <p:cNvSpPr txBox="1"/>
            <p:nvPr/>
          </p:nvSpPr>
          <p:spPr>
            <a:xfrm>
              <a:off x="127000" y="-95250"/>
              <a:ext cx="526901" cy="745563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0455876" y="30598107"/>
            <a:ext cx="1691293" cy="1691293"/>
            <a:chOff x="0" y="0"/>
            <a:chExt cx="812800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76200" y="-190500"/>
              <a:ext cx="660400" cy="927100"/>
            </a:xfrm>
            <a:prstGeom prst="rect">
              <a:avLst/>
            </a:prstGeom>
          </p:spPr>
          <p:txBody>
            <a:bodyPr lIns="31173" tIns="31173" rIns="31173" bIns="31173" rtlCol="0" anchor="ctr"/>
            <a:lstStyle/>
            <a:p>
              <a:pPr algn="ctr">
                <a:lnSpc>
                  <a:spcPts val="9520"/>
                </a:lnSpc>
              </a:pPr>
              <a:r>
                <a:rPr lang="en-US" sz="6800" b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2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599570" y="24957121"/>
            <a:ext cx="3850520" cy="3050712"/>
            <a:chOff x="-5563" y="-95250"/>
            <a:chExt cx="375491" cy="297497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69928" cy="106997"/>
            </a:xfrm>
            <a:custGeom>
              <a:avLst/>
              <a:gdLst/>
              <a:ahLst/>
              <a:cxnLst/>
              <a:rect l="l" t="t" r="r" b="b"/>
              <a:pathLst>
                <a:path w="369928" h="106997">
                  <a:moveTo>
                    <a:pt x="0" y="0"/>
                  </a:moveTo>
                  <a:lnTo>
                    <a:pt x="369928" y="0"/>
                  </a:lnTo>
                  <a:lnTo>
                    <a:pt x="369928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-5563" y="-95250"/>
              <a:ext cx="369928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Metodología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96" name="Freeform 96"/>
          <p:cNvSpPr/>
          <p:nvPr/>
        </p:nvSpPr>
        <p:spPr>
          <a:xfrm>
            <a:off x="4523847" y="25933871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97" name="Group 97"/>
          <p:cNvGrpSpPr/>
          <p:nvPr/>
        </p:nvGrpSpPr>
        <p:grpSpPr>
          <a:xfrm>
            <a:off x="663717" y="34883354"/>
            <a:ext cx="6088322" cy="3050712"/>
            <a:chOff x="0" y="-94440"/>
            <a:chExt cx="593715" cy="297497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925" y="-9444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Integración</a:t>
              </a: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Curricular</a:t>
              </a:r>
            </a:p>
          </p:txBody>
        </p:sp>
      </p:grpSp>
      <p:sp>
        <p:nvSpPr>
          <p:cNvPr id="100" name="Freeform 100"/>
          <p:cNvSpPr/>
          <p:nvPr/>
        </p:nvSpPr>
        <p:spPr>
          <a:xfrm>
            <a:off x="6813343" y="35927099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1" name="Group 101"/>
          <p:cNvGrpSpPr/>
          <p:nvPr/>
        </p:nvGrpSpPr>
        <p:grpSpPr>
          <a:xfrm>
            <a:off x="7675847" y="35309305"/>
            <a:ext cx="6212044" cy="3050712"/>
            <a:chOff x="0" y="-89480"/>
            <a:chExt cx="605780" cy="297497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17990" y="-8948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Ingeniería</a:t>
              </a: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 </a:t>
              </a: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Aplicada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04" name="Freeform 104"/>
          <p:cNvSpPr/>
          <p:nvPr/>
        </p:nvSpPr>
        <p:spPr>
          <a:xfrm>
            <a:off x="13841299" y="36226886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5" name="Group 105"/>
          <p:cNvGrpSpPr/>
          <p:nvPr/>
        </p:nvGrpSpPr>
        <p:grpSpPr>
          <a:xfrm>
            <a:off x="15189563" y="6308169"/>
            <a:ext cx="6047888" cy="3050712"/>
            <a:chOff x="0" y="-102500"/>
            <a:chExt cx="589772" cy="297497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1982" y="-102500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s-EC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Resultados</a:t>
              </a:r>
            </a:p>
          </p:txBody>
        </p:sp>
      </p:grpSp>
      <p:sp>
        <p:nvSpPr>
          <p:cNvPr id="108" name="Freeform 108"/>
          <p:cNvSpPr/>
          <p:nvPr/>
        </p:nvSpPr>
        <p:spPr>
          <a:xfrm>
            <a:off x="21355016" y="7359265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09" name="Group 109"/>
          <p:cNvGrpSpPr/>
          <p:nvPr/>
        </p:nvGrpSpPr>
        <p:grpSpPr>
          <a:xfrm>
            <a:off x="15083064" y="8761276"/>
            <a:ext cx="3731505" cy="3731505"/>
            <a:chOff x="0" y="0"/>
            <a:chExt cx="812800" cy="812800"/>
          </a:xfrm>
        </p:grpSpPr>
        <p:sp>
          <p:nvSpPr>
            <p:cNvPr id="110" name="Freeform 1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11" name="TextBox 1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16596438" y="9311761"/>
            <a:ext cx="9396189" cy="2522234"/>
            <a:chOff x="0" y="0"/>
            <a:chExt cx="1522904" cy="408796"/>
          </a:xfrm>
        </p:grpSpPr>
        <p:sp>
          <p:nvSpPr>
            <p:cNvPr id="113" name="Freeform 113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14" name="TextBox 114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15083064" y="14919393"/>
            <a:ext cx="3731505" cy="3731505"/>
            <a:chOff x="0" y="0"/>
            <a:chExt cx="812800" cy="812800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17" name="TextBox 11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6596438" y="15469878"/>
            <a:ext cx="9396189" cy="2522234"/>
            <a:chOff x="0" y="0"/>
            <a:chExt cx="1522904" cy="408796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20" name="TextBox 120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1" name="Group 121"/>
          <p:cNvGrpSpPr/>
          <p:nvPr/>
        </p:nvGrpSpPr>
        <p:grpSpPr>
          <a:xfrm rot="-10800000">
            <a:off x="26068827" y="11738373"/>
            <a:ext cx="3731505" cy="3731505"/>
            <a:chOff x="0" y="0"/>
            <a:chExt cx="812800" cy="812800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23" name="TextBox 12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4" name="Group 124"/>
          <p:cNvGrpSpPr/>
          <p:nvPr/>
        </p:nvGrpSpPr>
        <p:grpSpPr>
          <a:xfrm rot="-10800000">
            <a:off x="18890769" y="12397158"/>
            <a:ext cx="9396189" cy="2522234"/>
            <a:chOff x="0" y="0"/>
            <a:chExt cx="1522904" cy="408796"/>
          </a:xfrm>
        </p:grpSpPr>
        <p:sp>
          <p:nvSpPr>
            <p:cNvPr id="125" name="Freeform 125"/>
            <p:cNvSpPr/>
            <p:nvPr/>
          </p:nvSpPr>
          <p:spPr>
            <a:xfrm>
              <a:off x="0" y="0"/>
              <a:ext cx="1522904" cy="408796"/>
            </a:xfrm>
            <a:custGeom>
              <a:avLst/>
              <a:gdLst/>
              <a:ahLst/>
              <a:cxnLst/>
              <a:rect l="l" t="t" r="r" b="b"/>
              <a:pathLst>
                <a:path w="1522904" h="408796">
                  <a:moveTo>
                    <a:pt x="45729" y="0"/>
                  </a:moveTo>
                  <a:lnTo>
                    <a:pt x="1289689" y="0"/>
                  </a:lnTo>
                  <a:cubicBezTo>
                    <a:pt x="1427973" y="0"/>
                    <a:pt x="1522904" y="91512"/>
                    <a:pt x="1522904" y="204398"/>
                  </a:cubicBezTo>
                  <a:cubicBezTo>
                    <a:pt x="1522904" y="317284"/>
                    <a:pt x="1427973" y="408796"/>
                    <a:pt x="1289689" y="408796"/>
                  </a:cubicBezTo>
                  <a:lnTo>
                    <a:pt x="45729" y="408796"/>
                  </a:lnTo>
                  <a:cubicBezTo>
                    <a:pt x="33601" y="408796"/>
                    <a:pt x="21969" y="403978"/>
                    <a:pt x="13394" y="395402"/>
                  </a:cubicBezTo>
                  <a:cubicBezTo>
                    <a:pt x="4818" y="386826"/>
                    <a:pt x="0" y="375195"/>
                    <a:pt x="0" y="363067"/>
                  </a:cubicBezTo>
                  <a:lnTo>
                    <a:pt x="0" y="45729"/>
                  </a:lnTo>
                  <a:cubicBezTo>
                    <a:pt x="0" y="33601"/>
                    <a:pt x="4818" y="21969"/>
                    <a:pt x="13394" y="13394"/>
                  </a:cubicBezTo>
                  <a:cubicBezTo>
                    <a:pt x="21969" y="4818"/>
                    <a:pt x="33601" y="0"/>
                    <a:pt x="45729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26" name="TextBox 126"/>
            <p:cNvSpPr txBox="1"/>
            <p:nvPr/>
          </p:nvSpPr>
          <p:spPr>
            <a:xfrm>
              <a:off x="25400" y="-57150"/>
              <a:ext cx="1294304" cy="4659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15104878" y="18417875"/>
            <a:ext cx="6060685" cy="3050712"/>
            <a:chOff x="-3230" y="-99147"/>
            <a:chExt cx="591020" cy="297497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-3230" y="-99147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Conclusiones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30" name="Freeform 130"/>
          <p:cNvSpPr/>
          <p:nvPr/>
        </p:nvSpPr>
        <p:spPr>
          <a:xfrm>
            <a:off x="21303453" y="19434588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31" name="Group 131"/>
          <p:cNvGrpSpPr/>
          <p:nvPr/>
        </p:nvGrpSpPr>
        <p:grpSpPr>
          <a:xfrm rot="-5400000">
            <a:off x="11392906" y="23530939"/>
            <a:ext cx="8733110" cy="3896880"/>
            <a:chOff x="0" y="0"/>
            <a:chExt cx="939225" cy="419100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33" name="TextBox 133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34" name="Group 134"/>
          <p:cNvGrpSpPr/>
          <p:nvPr/>
        </p:nvGrpSpPr>
        <p:grpSpPr>
          <a:xfrm rot="-5400000">
            <a:off x="14663127" y="20260717"/>
            <a:ext cx="2192667" cy="3896880"/>
            <a:chOff x="0" y="0"/>
            <a:chExt cx="235816" cy="419100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136" name="TextBox 136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37" name="Group 137"/>
          <p:cNvGrpSpPr/>
          <p:nvPr/>
        </p:nvGrpSpPr>
        <p:grpSpPr>
          <a:xfrm rot="-5400000">
            <a:off x="15466402" y="23530939"/>
            <a:ext cx="8733110" cy="3896880"/>
            <a:chOff x="0" y="0"/>
            <a:chExt cx="939225" cy="419100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39" name="TextBox 139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0" name="Group 140"/>
          <p:cNvGrpSpPr/>
          <p:nvPr/>
        </p:nvGrpSpPr>
        <p:grpSpPr>
          <a:xfrm rot="-5400000">
            <a:off x="18736624" y="20260717"/>
            <a:ext cx="2192667" cy="3896880"/>
            <a:chOff x="0" y="0"/>
            <a:chExt cx="235816" cy="419100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142" name="TextBox 142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3" name="Group 143"/>
          <p:cNvGrpSpPr/>
          <p:nvPr/>
        </p:nvGrpSpPr>
        <p:grpSpPr>
          <a:xfrm rot="-5400000">
            <a:off x="23604025" y="23530939"/>
            <a:ext cx="8733110" cy="3896880"/>
            <a:chOff x="0" y="0"/>
            <a:chExt cx="939225" cy="419100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45" name="TextBox 145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6" name="Group 146"/>
          <p:cNvGrpSpPr/>
          <p:nvPr/>
        </p:nvGrpSpPr>
        <p:grpSpPr>
          <a:xfrm rot="-5400000">
            <a:off x="26874246" y="20260717"/>
            <a:ext cx="2192667" cy="3896880"/>
            <a:chOff x="0" y="0"/>
            <a:chExt cx="235816" cy="419100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012034"/>
            </a:solidFill>
          </p:spPr>
        </p:sp>
        <p:sp>
          <p:nvSpPr>
            <p:cNvPr id="148" name="TextBox 148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49" name="Group 149"/>
          <p:cNvGrpSpPr/>
          <p:nvPr/>
        </p:nvGrpSpPr>
        <p:grpSpPr>
          <a:xfrm rot="-5400000">
            <a:off x="19534732" y="23530939"/>
            <a:ext cx="8733110" cy="3896880"/>
            <a:chOff x="0" y="0"/>
            <a:chExt cx="939225" cy="419100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939225" cy="419100"/>
            </a:xfrm>
            <a:custGeom>
              <a:avLst/>
              <a:gdLst/>
              <a:ahLst/>
              <a:cxnLst/>
              <a:rect l="l" t="t" r="r" b="b"/>
              <a:pathLst>
                <a:path w="939225" h="419100">
                  <a:moveTo>
                    <a:pt x="49201" y="0"/>
                  </a:moveTo>
                  <a:lnTo>
                    <a:pt x="719545" y="0"/>
                  </a:lnTo>
                  <a:cubicBezTo>
                    <a:pt x="844294" y="0"/>
                    <a:pt x="939225" y="93819"/>
                    <a:pt x="939225" y="209550"/>
                  </a:cubicBezTo>
                  <a:cubicBezTo>
                    <a:pt x="939225" y="325281"/>
                    <a:pt x="844294" y="419100"/>
                    <a:pt x="719545" y="419100"/>
                  </a:cubicBezTo>
                  <a:lnTo>
                    <a:pt x="49201" y="419100"/>
                  </a:lnTo>
                  <a:cubicBezTo>
                    <a:pt x="22028" y="419100"/>
                    <a:pt x="0" y="397072"/>
                    <a:pt x="0" y="369899"/>
                  </a:cubicBezTo>
                  <a:lnTo>
                    <a:pt x="0" y="49201"/>
                  </a:lnTo>
                  <a:cubicBezTo>
                    <a:pt x="0" y="22028"/>
                    <a:pt x="22028" y="0"/>
                    <a:pt x="49201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51" name="TextBox 151"/>
            <p:cNvSpPr txBox="1"/>
            <p:nvPr/>
          </p:nvSpPr>
          <p:spPr>
            <a:xfrm>
              <a:off x="25400" y="-95250"/>
              <a:ext cx="710625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52" name="Group 152"/>
          <p:cNvGrpSpPr/>
          <p:nvPr/>
        </p:nvGrpSpPr>
        <p:grpSpPr>
          <a:xfrm rot="-5400000">
            <a:off x="22804953" y="20260717"/>
            <a:ext cx="2192667" cy="3896880"/>
            <a:chOff x="0" y="0"/>
            <a:chExt cx="235816" cy="419100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235816" cy="419100"/>
            </a:xfrm>
            <a:custGeom>
              <a:avLst/>
              <a:gdLst/>
              <a:ahLst/>
              <a:cxnLst/>
              <a:rect l="l" t="t" r="r" b="b"/>
              <a:pathLst>
                <a:path w="235816" h="419100">
                  <a:moveTo>
                    <a:pt x="16224" y="0"/>
                  </a:moveTo>
                  <a:lnTo>
                    <a:pt x="32449" y="0"/>
                  </a:lnTo>
                  <a:cubicBezTo>
                    <a:pt x="140885" y="0"/>
                    <a:pt x="235816" y="93819"/>
                    <a:pt x="235816" y="209550"/>
                  </a:cubicBezTo>
                  <a:cubicBezTo>
                    <a:pt x="235816" y="325281"/>
                    <a:pt x="140885" y="419100"/>
                    <a:pt x="32449" y="419100"/>
                  </a:cubicBezTo>
                  <a:lnTo>
                    <a:pt x="16224" y="419100"/>
                  </a:lnTo>
                  <a:cubicBezTo>
                    <a:pt x="11921" y="419100"/>
                    <a:pt x="7795" y="417391"/>
                    <a:pt x="4752" y="414348"/>
                  </a:cubicBezTo>
                  <a:cubicBezTo>
                    <a:pt x="1709" y="411305"/>
                    <a:pt x="0" y="407179"/>
                    <a:pt x="0" y="402876"/>
                  </a:cubicBezTo>
                  <a:lnTo>
                    <a:pt x="0" y="16224"/>
                  </a:lnTo>
                  <a:cubicBezTo>
                    <a:pt x="0" y="11921"/>
                    <a:pt x="1709" y="7795"/>
                    <a:pt x="4752" y="4752"/>
                  </a:cubicBezTo>
                  <a:cubicBezTo>
                    <a:pt x="7795" y="1709"/>
                    <a:pt x="11921" y="0"/>
                    <a:pt x="16224" y="0"/>
                  </a:cubicBezTo>
                  <a:close/>
                </a:path>
              </a:pathLst>
            </a:custGeom>
            <a:solidFill>
              <a:srgbClr val="660E11"/>
            </a:solidFill>
          </p:spPr>
        </p:sp>
        <p:sp>
          <p:nvSpPr>
            <p:cNvPr id="154" name="TextBox 154"/>
            <p:cNvSpPr txBox="1"/>
            <p:nvPr/>
          </p:nvSpPr>
          <p:spPr>
            <a:xfrm>
              <a:off x="25400" y="-95250"/>
              <a:ext cx="7216" cy="514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7280"/>
                </a:lnSpc>
              </a:pPr>
              <a:endParaRPr/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5213604" y="2104595"/>
            <a:ext cx="6089849" cy="3050712"/>
            <a:chOff x="0" y="-108047"/>
            <a:chExt cx="593864" cy="297497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6074" y="-108047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Palabras Clave</a:t>
              </a:r>
            </a:p>
          </p:txBody>
        </p:sp>
      </p:grpSp>
      <p:sp>
        <p:nvSpPr>
          <p:cNvPr id="158" name="Freeform 158"/>
          <p:cNvSpPr/>
          <p:nvPr/>
        </p:nvSpPr>
        <p:spPr>
          <a:xfrm>
            <a:off x="21355016" y="3183529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1"/>
                </a:lnTo>
                <a:lnTo>
                  <a:pt x="0" y="1097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59" name="Group 159"/>
          <p:cNvGrpSpPr/>
          <p:nvPr/>
        </p:nvGrpSpPr>
        <p:grpSpPr>
          <a:xfrm>
            <a:off x="15419615" y="4569893"/>
            <a:ext cx="3926252" cy="918551"/>
            <a:chOff x="0" y="0"/>
            <a:chExt cx="1733301" cy="405507"/>
          </a:xfrm>
        </p:grpSpPr>
        <p:sp>
          <p:nvSpPr>
            <p:cNvPr id="160" name="Freeform 160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61" name="TextBox 161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seguridad</a:t>
              </a:r>
            </a:p>
          </p:txBody>
        </p:sp>
      </p:grpSp>
      <p:grpSp>
        <p:nvGrpSpPr>
          <p:cNvPr id="162" name="Group 162"/>
          <p:cNvGrpSpPr/>
          <p:nvPr/>
        </p:nvGrpSpPr>
        <p:grpSpPr>
          <a:xfrm>
            <a:off x="16626207" y="5724389"/>
            <a:ext cx="3926252" cy="918551"/>
            <a:chOff x="0" y="0"/>
            <a:chExt cx="1733301" cy="405507"/>
          </a:xfrm>
        </p:grpSpPr>
        <p:sp>
          <p:nvSpPr>
            <p:cNvPr id="163" name="Freeform 163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64" name="TextBox 164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rediseño</a:t>
              </a:r>
            </a:p>
          </p:txBody>
        </p:sp>
      </p:grpSp>
      <p:grpSp>
        <p:nvGrpSpPr>
          <p:cNvPr id="165" name="Group 165"/>
          <p:cNvGrpSpPr/>
          <p:nvPr/>
        </p:nvGrpSpPr>
        <p:grpSpPr>
          <a:xfrm>
            <a:off x="19843936" y="4559866"/>
            <a:ext cx="3926252" cy="918551"/>
            <a:chOff x="0" y="0"/>
            <a:chExt cx="1733301" cy="405507"/>
          </a:xfrm>
        </p:grpSpPr>
        <p:sp>
          <p:nvSpPr>
            <p:cNvPr id="166" name="Freeform 166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67" name="TextBox 167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evaluación</a:t>
              </a:r>
            </a:p>
          </p:txBody>
        </p:sp>
      </p:grpSp>
      <p:grpSp>
        <p:nvGrpSpPr>
          <p:cNvPr id="168" name="Group 168"/>
          <p:cNvGrpSpPr/>
          <p:nvPr/>
        </p:nvGrpSpPr>
        <p:grpSpPr>
          <a:xfrm>
            <a:off x="21050528" y="5714362"/>
            <a:ext cx="3926252" cy="918551"/>
            <a:chOff x="0" y="0"/>
            <a:chExt cx="1733301" cy="405507"/>
          </a:xfrm>
        </p:grpSpPr>
        <p:sp>
          <p:nvSpPr>
            <p:cNvPr id="169" name="Freeform 169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57A86"/>
            </a:solidFill>
          </p:spPr>
        </p:sp>
        <p:sp>
          <p:nvSpPr>
            <p:cNvPr id="170" name="TextBox 170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frio</a:t>
              </a:r>
            </a:p>
          </p:txBody>
        </p:sp>
      </p:grpSp>
      <p:grpSp>
        <p:nvGrpSpPr>
          <p:cNvPr id="171" name="Group 171"/>
          <p:cNvGrpSpPr/>
          <p:nvPr/>
        </p:nvGrpSpPr>
        <p:grpSpPr>
          <a:xfrm>
            <a:off x="24268606" y="4451920"/>
            <a:ext cx="3926252" cy="918551"/>
            <a:chOff x="0" y="0"/>
            <a:chExt cx="1733301" cy="405507"/>
          </a:xfrm>
        </p:grpSpPr>
        <p:sp>
          <p:nvSpPr>
            <p:cNvPr id="172" name="Freeform 172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F2850"/>
            </a:solidFill>
          </p:spPr>
        </p:sp>
        <p:sp>
          <p:nvSpPr>
            <p:cNvPr id="173" name="TextBox 173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riesgos</a:t>
              </a:r>
            </a:p>
          </p:txBody>
        </p:sp>
      </p:grpSp>
      <p:grpSp>
        <p:nvGrpSpPr>
          <p:cNvPr id="174" name="Group 174"/>
          <p:cNvGrpSpPr/>
          <p:nvPr/>
        </p:nvGrpSpPr>
        <p:grpSpPr>
          <a:xfrm>
            <a:off x="25475198" y="5724389"/>
            <a:ext cx="3926252" cy="918551"/>
            <a:chOff x="0" y="0"/>
            <a:chExt cx="1733301" cy="405507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1733301" cy="405507"/>
            </a:xfrm>
            <a:custGeom>
              <a:avLst/>
              <a:gdLst/>
              <a:ahLst/>
              <a:cxnLst/>
              <a:rect l="l" t="t" r="r" b="b"/>
              <a:pathLst>
                <a:path w="1733301" h="405507">
                  <a:moveTo>
                    <a:pt x="1530101" y="0"/>
                  </a:moveTo>
                  <a:cubicBezTo>
                    <a:pt x="1642325" y="0"/>
                    <a:pt x="1733301" y="90776"/>
                    <a:pt x="1733301" y="202754"/>
                  </a:cubicBezTo>
                  <a:cubicBezTo>
                    <a:pt x="1733301" y="314732"/>
                    <a:pt x="1642325" y="405507"/>
                    <a:pt x="1530101" y="405507"/>
                  </a:cubicBezTo>
                  <a:lnTo>
                    <a:pt x="203200" y="405507"/>
                  </a:lnTo>
                  <a:cubicBezTo>
                    <a:pt x="90976" y="405507"/>
                    <a:pt x="0" y="314732"/>
                    <a:pt x="0" y="202754"/>
                  </a:cubicBezTo>
                  <a:cubicBezTo>
                    <a:pt x="0" y="907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3191D"/>
            </a:solidFill>
          </p:spPr>
        </p:sp>
        <p:sp>
          <p:nvSpPr>
            <p:cNvPr id="176" name="TextBox 176"/>
            <p:cNvSpPr txBox="1"/>
            <p:nvPr/>
          </p:nvSpPr>
          <p:spPr>
            <a:xfrm>
              <a:off x="0" y="-152400"/>
              <a:ext cx="1733301" cy="557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460"/>
                </a:lnSpc>
              </a:pPr>
              <a:r>
                <a:rPr lang="en-US" sz="3900" dirty="0" err="1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simulación</a:t>
              </a:r>
              <a:endParaRPr lang="en-US" sz="39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endParaRP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15138000" y="36678838"/>
            <a:ext cx="6032670" cy="3050712"/>
            <a:chOff x="0" y="-91551"/>
            <a:chExt cx="588288" cy="297497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498" y="-91551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Referencias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80" name="Freeform 180"/>
          <p:cNvSpPr/>
          <p:nvPr/>
        </p:nvSpPr>
        <p:spPr>
          <a:xfrm>
            <a:off x="21303453" y="37617657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grpSp>
        <p:nvGrpSpPr>
          <p:cNvPr id="181" name="Group 181"/>
          <p:cNvGrpSpPr/>
          <p:nvPr/>
        </p:nvGrpSpPr>
        <p:grpSpPr>
          <a:xfrm>
            <a:off x="15163781" y="30599527"/>
            <a:ext cx="6118675" cy="3050712"/>
            <a:chOff x="0" y="-94429"/>
            <a:chExt cx="596675" cy="297497"/>
          </a:xfrm>
        </p:grpSpPr>
        <p:sp>
          <p:nvSpPr>
            <p:cNvPr id="182" name="Freeform 182"/>
            <p:cNvSpPr/>
            <p:nvPr/>
          </p:nvSpPr>
          <p:spPr>
            <a:xfrm>
              <a:off x="0" y="0"/>
              <a:ext cx="587790" cy="106997"/>
            </a:xfrm>
            <a:custGeom>
              <a:avLst/>
              <a:gdLst/>
              <a:ahLst/>
              <a:cxnLst/>
              <a:rect l="l" t="t" r="r" b="b"/>
              <a:pathLst>
                <a:path w="587790" h="106997">
                  <a:moveTo>
                    <a:pt x="0" y="0"/>
                  </a:moveTo>
                  <a:lnTo>
                    <a:pt x="587790" y="0"/>
                  </a:lnTo>
                  <a:lnTo>
                    <a:pt x="587790" y="106997"/>
                  </a:lnTo>
                  <a:lnTo>
                    <a:pt x="0" y="1069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F2850"/>
              </a:solidFill>
              <a:prstDash val="solid"/>
              <a:miter/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8885" y="-94429"/>
              <a:ext cx="587790" cy="297497"/>
            </a:xfrm>
            <a:prstGeom prst="rect">
              <a:avLst/>
            </a:prstGeom>
          </p:spPr>
          <p:txBody>
            <a:bodyPr lIns="45938" tIns="45938" rIns="45938" bIns="45938" rtlCol="0" anchor="ctr"/>
            <a:lstStyle/>
            <a:p>
              <a:pPr algn="ctr">
                <a:lnSpc>
                  <a:spcPts val="6720"/>
                </a:lnSpc>
                <a:spcBef>
                  <a:spcPct val="0"/>
                </a:spcBef>
              </a:pPr>
              <a:r>
                <a:rPr lang="en-US" sz="4800" b="1" dirty="0" err="1">
                  <a:solidFill>
                    <a:srgbClr val="0F285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Contactos</a:t>
              </a:r>
              <a:endParaRPr lang="en-US" sz="4800" b="1" dirty="0">
                <a:solidFill>
                  <a:srgbClr val="0F285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endParaRPr>
            </a:p>
          </p:txBody>
        </p:sp>
      </p:grpSp>
      <p:sp>
        <p:nvSpPr>
          <p:cNvPr id="184" name="Freeform 184"/>
          <p:cNvSpPr/>
          <p:nvPr/>
        </p:nvSpPr>
        <p:spPr>
          <a:xfrm>
            <a:off x="21329234" y="31567858"/>
            <a:ext cx="231067" cy="1097211"/>
          </a:xfrm>
          <a:custGeom>
            <a:avLst/>
            <a:gdLst/>
            <a:ahLst/>
            <a:cxnLst/>
            <a:rect l="l" t="t" r="r" b="b"/>
            <a:pathLst>
              <a:path w="231067" h="1097211">
                <a:moveTo>
                  <a:pt x="0" y="0"/>
                </a:moveTo>
                <a:lnTo>
                  <a:pt x="231067" y="0"/>
                </a:lnTo>
                <a:lnTo>
                  <a:pt x="231067" y="1097212"/>
                </a:lnTo>
                <a:lnTo>
                  <a:pt x="0" y="1097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15738"/>
            </a:stretch>
          </a:blipFill>
        </p:spPr>
      </p:sp>
      <p:sp>
        <p:nvSpPr>
          <p:cNvPr id="185" name="Freeform 185"/>
          <p:cNvSpPr/>
          <p:nvPr/>
        </p:nvSpPr>
        <p:spPr>
          <a:xfrm>
            <a:off x="51563" y="42475218"/>
            <a:ext cx="30276000" cy="1551645"/>
          </a:xfrm>
          <a:custGeom>
            <a:avLst/>
            <a:gdLst/>
            <a:ahLst/>
            <a:cxnLst/>
            <a:rect l="l" t="t" r="r" b="b"/>
            <a:pathLst>
              <a:path w="30276000" h="1551645">
                <a:moveTo>
                  <a:pt x="0" y="0"/>
                </a:moveTo>
                <a:lnTo>
                  <a:pt x="30276000" y="0"/>
                </a:lnTo>
                <a:lnTo>
                  <a:pt x="30276000" y="1551645"/>
                </a:lnTo>
                <a:lnTo>
                  <a:pt x="0" y="1551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86" name="Freeform 186"/>
          <p:cNvSpPr/>
          <p:nvPr/>
        </p:nvSpPr>
        <p:spPr>
          <a:xfrm>
            <a:off x="23147024" y="31830273"/>
            <a:ext cx="5440226" cy="5493824"/>
          </a:xfrm>
          <a:custGeom>
            <a:avLst/>
            <a:gdLst/>
            <a:ahLst/>
            <a:cxnLst/>
            <a:rect l="l" t="t" r="r" b="b"/>
            <a:pathLst>
              <a:path w="5440226" h="5493824">
                <a:moveTo>
                  <a:pt x="0" y="0"/>
                </a:moveTo>
                <a:lnTo>
                  <a:pt x="5440226" y="0"/>
                </a:lnTo>
                <a:lnTo>
                  <a:pt x="5440226" y="5493824"/>
                </a:lnTo>
                <a:lnTo>
                  <a:pt x="0" y="54938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7" name="TextBox 187"/>
          <p:cNvSpPr txBox="1"/>
          <p:nvPr/>
        </p:nvSpPr>
        <p:spPr>
          <a:xfrm>
            <a:off x="4713271" y="33076682"/>
            <a:ext cx="5394669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Rediseño del área de trabajo y elaboración del informe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Rediseño de puestos de trabajo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Simulaciones de nuevos diseños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Redacción del informe</a:t>
            </a:r>
          </a:p>
        </p:txBody>
      </p:sp>
      <p:sp>
        <p:nvSpPr>
          <p:cNvPr id="188" name="TextBox 188"/>
          <p:cNvSpPr txBox="1"/>
          <p:nvPr/>
        </p:nvSpPr>
        <p:spPr>
          <a:xfrm>
            <a:off x="4248209" y="30833558"/>
            <a:ext cx="5394669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Evaluación de riesgos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Encuesta al personal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Evaluación Riesgos ergonómicos</a:t>
            </a:r>
          </a:p>
          <a:p>
            <a:pPr marL="561341" lvl="1" indent="-280670" algn="just">
              <a:lnSpc>
                <a:spcPts val="2730"/>
              </a:lnSpc>
              <a:buFont typeface="Arial"/>
              <a:buChar char="•"/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Evaluación de riesgo por frio </a:t>
            </a:r>
          </a:p>
        </p:txBody>
      </p:sp>
      <p:sp>
        <p:nvSpPr>
          <p:cNvPr id="189" name="TextBox 189"/>
          <p:cNvSpPr txBox="1"/>
          <p:nvPr/>
        </p:nvSpPr>
        <p:spPr>
          <a:xfrm>
            <a:off x="9531818" y="22756681"/>
            <a:ext cx="184237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 Específico</a:t>
            </a:r>
          </a:p>
        </p:txBody>
      </p:sp>
      <p:sp>
        <p:nvSpPr>
          <p:cNvPr id="190" name="TextBox 190"/>
          <p:cNvSpPr txBox="1"/>
          <p:nvPr/>
        </p:nvSpPr>
        <p:spPr>
          <a:xfrm>
            <a:off x="4925734" y="21847119"/>
            <a:ext cx="4237352" cy="281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Evaluar los riesgos laborales existentes en los puestos de trabajo del área de logística y sus posibles consecuencias en la salud de los trabajadores con el fin de determinar su nivel de exposición y de gravedad</a:t>
            </a:r>
          </a:p>
        </p:txBody>
      </p:sp>
      <p:sp>
        <p:nvSpPr>
          <p:cNvPr id="191" name="TextBox 191"/>
          <p:cNvSpPr txBox="1"/>
          <p:nvPr/>
        </p:nvSpPr>
        <p:spPr>
          <a:xfrm>
            <a:off x="885465" y="15859956"/>
            <a:ext cx="1559760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 General</a:t>
            </a:r>
          </a:p>
        </p:txBody>
      </p:sp>
      <p:sp>
        <p:nvSpPr>
          <p:cNvPr id="192" name="TextBox 192"/>
          <p:cNvSpPr txBox="1"/>
          <p:nvPr/>
        </p:nvSpPr>
        <p:spPr>
          <a:xfrm>
            <a:off x="2874363" y="14844760"/>
            <a:ext cx="4237352" cy="246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Diseñar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un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puesto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trabajo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proponer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mejoras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seguridad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laboral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área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logística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una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empresa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lácteos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2600" dirty="0" err="1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2600" dirty="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 ciudad de Cuenca.</a:t>
            </a:r>
          </a:p>
          <a:p>
            <a:pPr algn="just">
              <a:lnSpc>
                <a:spcPts val="2730"/>
              </a:lnSpc>
            </a:pPr>
            <a:endParaRPr lang="en-US" sz="2600" dirty="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3" name="TextBox 193"/>
          <p:cNvSpPr txBox="1"/>
          <p:nvPr/>
        </p:nvSpPr>
        <p:spPr>
          <a:xfrm>
            <a:off x="8198683" y="16701517"/>
            <a:ext cx="2675423" cy="349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-Identificar los principales tipos de factores de riesgo laborales que afectan a los trabajadores del área de logística de la empresa del caso de estudio.</a:t>
            </a:r>
          </a:p>
          <a:p>
            <a:pPr algn="just">
              <a:lnSpc>
                <a:spcPts val="2730"/>
              </a:lnSpc>
            </a:pPr>
            <a:endParaRPr lang="en-US" sz="260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4" name="TextBox 194"/>
          <p:cNvSpPr txBox="1"/>
          <p:nvPr/>
        </p:nvSpPr>
        <p:spPr>
          <a:xfrm>
            <a:off x="913596" y="3142402"/>
            <a:ext cx="13416285" cy="216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65"/>
              </a:lnSpc>
            </a:pPr>
            <a:r>
              <a:rPr lang="es-ES" sz="5300" b="1" dirty="0">
                <a:solidFill>
                  <a:srgbClr val="1004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Rediseño de puestos de trabajo basado en una evaluación de riesgos laborales en el área de logística en una empresa de lácteos</a:t>
            </a:r>
            <a:endParaRPr lang="en-US" sz="5300" b="1" dirty="0">
              <a:solidFill>
                <a:srgbClr val="10045A"/>
              </a:solidFill>
              <a:latin typeface="Times New Roman MT Bold"/>
              <a:ea typeface="Times New Roman MT Bold"/>
              <a:cs typeface="Times New Roman MT Bold"/>
              <a:sym typeface="Times New Roman MT Bold"/>
            </a:endParaRPr>
          </a:p>
        </p:txBody>
      </p:sp>
      <p:sp>
        <p:nvSpPr>
          <p:cNvPr id="195" name="TextBox 195"/>
          <p:cNvSpPr txBox="1"/>
          <p:nvPr/>
        </p:nvSpPr>
        <p:spPr>
          <a:xfrm>
            <a:off x="656616" y="5514762"/>
            <a:ext cx="13404586" cy="240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69" lvl="1" indent="-474984" algn="just">
              <a:lnSpc>
                <a:spcPts val="6160"/>
              </a:lnSpc>
              <a:buFont typeface="Arial"/>
              <a:buChar char="•"/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 César Ortiz Cruz</a:t>
            </a:r>
          </a:p>
          <a:p>
            <a:pPr marL="949969" lvl="1" indent="-474984" algn="just">
              <a:lnSpc>
                <a:spcPts val="6160"/>
              </a:lnSpc>
              <a:buFont typeface="Arial"/>
              <a:buChar char="•"/>
            </a:pPr>
            <a:r>
              <a:rPr lang="en-US" sz="4400" b="1" dirty="0">
                <a:solidFill>
                  <a:srgbClr val="1004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Tutor: 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Paulina Rebeca Espinoza Hernández</a:t>
            </a:r>
          </a:p>
          <a:p>
            <a:pPr algn="just">
              <a:lnSpc>
                <a:spcPts val="6160"/>
              </a:lnSpc>
              <a:spcBef>
                <a:spcPct val="0"/>
              </a:spcBef>
            </a:pP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6" name="TextBox 196"/>
          <p:cNvSpPr txBox="1"/>
          <p:nvPr/>
        </p:nvSpPr>
        <p:spPr>
          <a:xfrm>
            <a:off x="663717" y="9692063"/>
            <a:ext cx="13666164" cy="2436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estudio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evaluó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riesgos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laborales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área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logística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una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empresa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láctea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Cuenca para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rediseñar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puestos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trabajo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reducir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afectaciones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 la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salud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mantener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la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productividad</a:t>
            </a: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7" name="TextBox 197"/>
          <p:cNvSpPr txBox="1"/>
          <p:nvPr/>
        </p:nvSpPr>
        <p:spPr>
          <a:xfrm>
            <a:off x="1711687" y="23699773"/>
            <a:ext cx="1782892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4"/>
              </a:lnSpc>
            </a:pPr>
            <a:r>
              <a:rPr lang="en-US" sz="2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 Específico</a:t>
            </a:r>
          </a:p>
        </p:txBody>
      </p:sp>
      <p:sp>
        <p:nvSpPr>
          <p:cNvPr id="198" name="TextBox 198"/>
          <p:cNvSpPr txBox="1"/>
          <p:nvPr/>
        </p:nvSpPr>
        <p:spPr>
          <a:xfrm>
            <a:off x="1158593" y="18649662"/>
            <a:ext cx="2675423" cy="486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Diseñar y simular puestos de trabajo en el área de logística con base en los riesgos evaluados y normativa y elaborar un informe que incluya directrices, propuestas de equipos y recomendaciones </a:t>
            </a:r>
          </a:p>
          <a:p>
            <a:pPr algn="just">
              <a:lnSpc>
                <a:spcPts val="2730"/>
              </a:lnSpc>
            </a:pPr>
            <a:endParaRPr lang="en-US" sz="2600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199" name="TextBox 199"/>
          <p:cNvSpPr txBox="1"/>
          <p:nvPr/>
        </p:nvSpPr>
        <p:spPr>
          <a:xfrm>
            <a:off x="8662083" y="14909637"/>
            <a:ext cx="178289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Objetivo Específico</a:t>
            </a:r>
          </a:p>
        </p:txBody>
      </p:sp>
      <p:sp>
        <p:nvSpPr>
          <p:cNvPr id="200" name="TextBox 200"/>
          <p:cNvSpPr txBox="1"/>
          <p:nvPr/>
        </p:nvSpPr>
        <p:spPr>
          <a:xfrm>
            <a:off x="678137" y="37185309"/>
            <a:ext cx="6165453" cy="591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Seguridad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Salud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Ocupacional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Aplicación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normativa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Ingeniería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Ergonomía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Rediseño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puestos</a:t>
            </a: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Simulación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la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producción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Modelado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y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simulación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  <a:p>
            <a:pPr algn="just">
              <a:lnSpc>
                <a:spcPts val="4620"/>
              </a:lnSpc>
            </a:pP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01" name="TextBox 201"/>
          <p:cNvSpPr txBox="1"/>
          <p:nvPr/>
        </p:nvSpPr>
        <p:spPr>
          <a:xfrm>
            <a:off x="7675847" y="37609847"/>
            <a:ext cx="6165453" cy="4179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Estándares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Ingeniería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</a:t>
            </a:r>
          </a:p>
          <a:p>
            <a:pPr algn="just">
              <a:lnSpc>
                <a:spcPts val="4620"/>
              </a:lnSpc>
            </a:pP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•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Reglamento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Seguro General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Riesgos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del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Trabajo</a:t>
            </a: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620"/>
              </a:lnSpc>
            </a:pP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Restricciones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Económica</a:t>
            </a:r>
            <a:r>
              <a:rPr lang="en-US" sz="4400" dirty="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y de </a:t>
            </a:r>
            <a:r>
              <a:rPr lang="en-US" sz="4400" dirty="0" err="1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Seguridad</a:t>
            </a: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just">
              <a:lnSpc>
                <a:spcPts val="4620"/>
              </a:lnSpc>
            </a:pPr>
            <a:endParaRPr lang="en-US" sz="4400" dirty="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02" name="TextBox 202"/>
          <p:cNvSpPr txBox="1"/>
          <p:nvPr/>
        </p:nvSpPr>
        <p:spPr>
          <a:xfrm>
            <a:off x="16258962" y="9926024"/>
            <a:ext cx="8600196" cy="109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 determinó que los trabajadores del área de cámaras frigoríficas y logística están expuestos principalmente a riesgos ergonómico y a riesgos físicos por bajas temperaturas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20171568" y="13036470"/>
            <a:ext cx="8600196" cy="1440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 aplicación de métodos como REBA, RULA y Check-list OCRA, junto con el Cuestionario Nórdico, mostró que varios puestos presentan niveles de riesgo que requieren intervención,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16258962" y="16029990"/>
            <a:ext cx="8600196" cy="17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partir de los resultados de la evaluación, se propuso un rediseño de los puestos de trabajo, incluyendo mejoras en contenedores, organización del trabajo, tiempos de exposición, y uso de equipos de protección y apoyo ergonómico.</a:t>
            </a:r>
          </a:p>
        </p:txBody>
      </p:sp>
      <p:sp>
        <p:nvSpPr>
          <p:cNvPr id="205" name="TextBox 205"/>
          <p:cNvSpPr txBox="1"/>
          <p:nvPr/>
        </p:nvSpPr>
        <p:spPr>
          <a:xfrm>
            <a:off x="14838275" y="22036749"/>
            <a:ext cx="184237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Conclusión 1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18911771" y="22036749"/>
            <a:ext cx="184237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Conclusión 2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27049393" y="22036749"/>
            <a:ext cx="184237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Conclusión 4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22980101" y="22036749"/>
            <a:ext cx="1842372" cy="754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Conclusión 3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14421749" y="24387581"/>
            <a:ext cx="2675423" cy="452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estudio permitió cumplir plenamente los objetivos planteados, demostrando que la evaluación conjunta de riesgos ergonómicos y estrés térmico, sustentada en normativa vigente.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18495245" y="24419916"/>
            <a:ext cx="2675423" cy="418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 evidenció que los trabajadores del área logística están expuestos a factores de riesgo significativos, como posturas forzadas, movimientos repetitivos, manipulación y manual de cargas. 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22533872" y="24457498"/>
            <a:ext cx="2675423" cy="4183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El diseño y simulación de los puestos de trabajo propuestos demostraron ser herramientas eficaces para reducir los riesgos identificados, permitiendo validar mejoras ergonómicas.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26726026" y="24586579"/>
            <a:ext cx="2675423" cy="3497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30"/>
              </a:lnSpc>
            </a:pPr>
            <a:r>
              <a:rPr lang="en-US" sz="26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Las acciones correctivas planteadas, muchas de ellas de bajo costo, muestran que es posible mejorar la seguridad y el bienestar de los trabajadores.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15189563" y="39060999"/>
            <a:ext cx="13952772" cy="265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Reglamento del Seguro General de Riesgos del Trabajo (2017)</a:t>
            </a: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Reglamento de Seguridad y Salud en el Trabajo (2024)</a:t>
            </a: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Norma Técnica en Seguridad e Higiene del Trabajo (2024)</a:t>
            </a:r>
          </a:p>
          <a:p>
            <a:pPr algn="l">
              <a:lnSpc>
                <a:spcPts val="4048"/>
              </a:lnSpc>
            </a:pPr>
            <a:endParaRPr lang="en-US" sz="440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214" name="TextBox 214"/>
          <p:cNvSpPr txBox="1"/>
          <p:nvPr/>
        </p:nvSpPr>
        <p:spPr>
          <a:xfrm>
            <a:off x="15215344" y="33011200"/>
            <a:ext cx="6950604" cy="214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 César Ortiz Cruz</a:t>
            </a: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julio.ortiz@ucuenca,edu,ec</a:t>
            </a:r>
          </a:p>
          <a:p>
            <a:pPr algn="l">
              <a:lnSpc>
                <a:spcPts val="4048"/>
              </a:lnSpc>
            </a:pPr>
            <a:endParaRPr lang="en-US" sz="4400">
              <a:solidFill>
                <a:srgbClr val="10045A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algn="l">
              <a:lnSpc>
                <a:spcPts val="4048"/>
              </a:lnSpc>
            </a:pPr>
            <a:r>
              <a:rPr lang="en-US" sz="4400">
                <a:solidFill>
                  <a:srgbClr val="10045A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099 881 0141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2716</TotalTime>
  <Words>576</Words>
  <Application>Microsoft Office PowerPoint</Application>
  <PresentationFormat>Personalizado</PresentationFormat>
  <Paragraphs>67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Times New Roman MT Bold</vt:lpstr>
      <vt:lpstr>Calibri</vt:lpstr>
      <vt:lpstr>Times New Roman MT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Copia de Formato Póster Tesis Ingeniería Industrial</dc:title>
  <dc:creator>Julio Ortiz</dc:creator>
  <cp:lastModifiedBy>Julio Cesar Ortiz Cruz</cp:lastModifiedBy>
  <cp:revision>4</cp:revision>
  <dcterms:created xsi:type="dcterms:W3CDTF">2006-08-16T00:00:00Z</dcterms:created>
  <dcterms:modified xsi:type="dcterms:W3CDTF">2026-01-08T21:30:32Z</dcterms:modified>
  <dc:identifier>DAG8SU5tJog</dc:identifier>
</cp:coreProperties>
</file>