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0276800" cy="42760900"/>
  <p:notesSz cx="6858000" cy="9144000"/>
  <p:embeddedFontLst>
    <p:embeddedFont>
      <p:font typeface="Times New Roman MT" panose="020B0604020202020204" charset="0"/>
      <p:regular r:id="rId4"/>
    </p:embeddedFont>
    <p:embeddedFont>
      <p:font typeface="Times New Roman MT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1834" autoAdjust="0"/>
  </p:normalViewPr>
  <p:slideViewPr>
    <p:cSldViewPr>
      <p:cViewPr>
        <p:scale>
          <a:sx n="30" d="100"/>
          <a:sy n="30" d="100"/>
        </p:scale>
        <p:origin x="10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D98E6-F5BC-45A3-B836-BFF0B0BE0F11}" type="datetimeFigureOut">
              <a:rPr lang="es-EC" smtClean="0"/>
              <a:t>8/1/2026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A3AAB-A6FC-4E36-B419-89E4C82C12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21906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A3AAB-A6FC-4E36-B419-89E4C82C1278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65216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563" y="-180893"/>
            <a:ext cx="30276000" cy="1551645"/>
          </a:xfrm>
          <a:custGeom>
            <a:avLst/>
            <a:gdLst/>
            <a:ahLst/>
            <a:cxnLst/>
            <a:rect l="l" t="t" r="r" b="b"/>
            <a:pathLst>
              <a:path w="30276000" h="1551645">
                <a:moveTo>
                  <a:pt x="0" y="0"/>
                </a:moveTo>
                <a:lnTo>
                  <a:pt x="30276000" y="0"/>
                </a:lnTo>
                <a:lnTo>
                  <a:pt x="30276000" y="1551645"/>
                </a:lnTo>
                <a:lnTo>
                  <a:pt x="0" y="15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3208" y="824452"/>
            <a:ext cx="31350006" cy="2078316"/>
            <a:chOff x="0" y="0"/>
            <a:chExt cx="3009411" cy="1995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09411" cy="199506"/>
            </a:xfrm>
            <a:custGeom>
              <a:avLst/>
              <a:gdLst/>
              <a:ahLst/>
              <a:cxnLst/>
              <a:rect l="l" t="t" r="r" b="b"/>
              <a:pathLst>
                <a:path w="3009411" h="199506">
                  <a:moveTo>
                    <a:pt x="0" y="0"/>
                  </a:moveTo>
                  <a:lnTo>
                    <a:pt x="3009411" y="0"/>
                  </a:lnTo>
                  <a:lnTo>
                    <a:pt x="3009411" y="199506"/>
                  </a:lnTo>
                  <a:lnTo>
                    <a:pt x="0" y="199506"/>
                  </a:ln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009411" cy="256656"/>
            </a:xfrm>
            <a:prstGeom prst="rect">
              <a:avLst/>
            </a:prstGeom>
          </p:spPr>
          <p:txBody>
            <a:bodyPr lIns="46667" tIns="46667" rIns="46667" bIns="46667" rtlCol="0" anchor="ctr"/>
            <a:lstStyle/>
            <a:p>
              <a:pPr algn="ctr">
                <a:lnSpc>
                  <a:spcPts val="372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6616" y="7260567"/>
            <a:ext cx="3867236" cy="3050712"/>
            <a:chOff x="0" y="-103179"/>
            <a:chExt cx="377121" cy="2974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9928" cy="106997"/>
            </a:xfrm>
            <a:custGeom>
              <a:avLst/>
              <a:gdLst/>
              <a:ahLst/>
              <a:cxnLst/>
              <a:rect l="l" t="t" r="r" b="b"/>
              <a:pathLst>
                <a:path w="369928" h="106997">
                  <a:moveTo>
                    <a:pt x="0" y="0"/>
                  </a:moveTo>
                  <a:lnTo>
                    <a:pt x="369928" y="0"/>
                  </a:lnTo>
                  <a:lnTo>
                    <a:pt x="369928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93" y="-103179"/>
              <a:ext cx="369928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Abstract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930815" y="787862"/>
            <a:ext cx="5660099" cy="2037636"/>
          </a:xfrm>
          <a:custGeom>
            <a:avLst/>
            <a:gdLst/>
            <a:ahLst/>
            <a:cxnLst/>
            <a:rect l="l" t="t" r="r" b="b"/>
            <a:pathLst>
              <a:path w="5660099" h="2037636">
                <a:moveTo>
                  <a:pt x="0" y="0"/>
                </a:moveTo>
                <a:lnTo>
                  <a:pt x="5660099" y="0"/>
                </a:lnTo>
                <a:lnTo>
                  <a:pt x="5660099" y="2037635"/>
                </a:lnTo>
                <a:lnTo>
                  <a:pt x="0" y="2037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523847" y="8318626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2"/>
                </a:lnTo>
                <a:lnTo>
                  <a:pt x="0" y="1097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54738" y="11779018"/>
            <a:ext cx="4002453" cy="3050712"/>
            <a:chOff x="-20379" y="-101353"/>
            <a:chExt cx="390307" cy="2974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9928" cy="106997"/>
            </a:xfrm>
            <a:custGeom>
              <a:avLst/>
              <a:gdLst/>
              <a:ahLst/>
              <a:cxnLst/>
              <a:rect l="l" t="t" r="r" b="b"/>
              <a:pathLst>
                <a:path w="369928" h="106997">
                  <a:moveTo>
                    <a:pt x="0" y="0"/>
                  </a:moveTo>
                  <a:lnTo>
                    <a:pt x="369928" y="0"/>
                  </a:lnTo>
                  <a:lnTo>
                    <a:pt x="369928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-20379" y="-101353"/>
              <a:ext cx="369928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Objectives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4530948" y="12818352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6" name="Group 16"/>
          <p:cNvGrpSpPr/>
          <p:nvPr/>
        </p:nvGrpSpPr>
        <p:grpSpPr>
          <a:xfrm rot="-10800000">
            <a:off x="521953" y="14668038"/>
            <a:ext cx="7329029" cy="3131148"/>
            <a:chOff x="0" y="0"/>
            <a:chExt cx="1401666" cy="59882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01666" cy="598827"/>
            </a:xfrm>
            <a:custGeom>
              <a:avLst/>
              <a:gdLst/>
              <a:ahLst/>
              <a:cxnLst/>
              <a:rect l="l" t="t" r="r" b="b"/>
              <a:pathLst>
                <a:path w="1401666" h="598827">
                  <a:moveTo>
                    <a:pt x="1198466" y="0"/>
                  </a:moveTo>
                  <a:cubicBezTo>
                    <a:pt x="1310690" y="0"/>
                    <a:pt x="1401666" y="134052"/>
                    <a:pt x="1401666" y="299414"/>
                  </a:cubicBezTo>
                  <a:cubicBezTo>
                    <a:pt x="1401666" y="464775"/>
                    <a:pt x="1310690" y="598827"/>
                    <a:pt x="1198466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401666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5243651" y="16040118"/>
            <a:ext cx="3700551" cy="1506663"/>
            <a:chOff x="0" y="0"/>
            <a:chExt cx="641376" cy="261133"/>
          </a:xfrm>
        </p:grpSpPr>
        <p:sp>
          <p:nvSpPr>
            <p:cNvPr id="20" name="Freeform 20"/>
            <p:cNvSpPr/>
            <p:nvPr/>
          </p:nvSpPr>
          <p:spPr>
            <a:xfrm>
              <a:off x="51990" y="0"/>
              <a:ext cx="537395" cy="261133"/>
            </a:xfrm>
            <a:custGeom>
              <a:avLst/>
              <a:gdLst/>
              <a:ahLst/>
              <a:cxnLst/>
              <a:rect l="l" t="t" r="r" b="b"/>
              <a:pathLst>
                <a:path w="537395" h="261133">
                  <a:moveTo>
                    <a:pt x="272996" y="0"/>
                  </a:moveTo>
                  <a:lnTo>
                    <a:pt x="494587" y="0"/>
                  </a:lnTo>
                  <a:cubicBezTo>
                    <a:pt x="511412" y="0"/>
                    <a:pt x="526677" y="9856"/>
                    <a:pt x="533601" y="25190"/>
                  </a:cubicBezTo>
                  <a:cubicBezTo>
                    <a:pt x="540526" y="40524"/>
                    <a:pt x="537825" y="58492"/>
                    <a:pt x="526699" y="71114"/>
                  </a:cubicBezTo>
                  <a:lnTo>
                    <a:pt x="421884" y="190020"/>
                  </a:lnTo>
                  <a:cubicBezTo>
                    <a:pt x="382031" y="235231"/>
                    <a:pt x="324669" y="261133"/>
                    <a:pt x="264400" y="261133"/>
                  </a:cubicBezTo>
                  <a:lnTo>
                    <a:pt x="42808" y="261133"/>
                  </a:lnTo>
                  <a:cubicBezTo>
                    <a:pt x="25983" y="261133"/>
                    <a:pt x="10719" y="251277"/>
                    <a:pt x="3794" y="235943"/>
                  </a:cubicBezTo>
                  <a:cubicBezTo>
                    <a:pt x="-3130" y="220609"/>
                    <a:pt x="-429" y="202641"/>
                    <a:pt x="10696" y="190020"/>
                  </a:cubicBezTo>
                  <a:lnTo>
                    <a:pt x="115511" y="71114"/>
                  </a:lnTo>
                  <a:cubicBezTo>
                    <a:pt x="155365" y="25902"/>
                    <a:pt x="212727" y="0"/>
                    <a:pt x="272996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254000" y="-57150"/>
              <a:ext cx="133376" cy="318283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10800000">
            <a:off x="521953" y="14668038"/>
            <a:ext cx="2124984" cy="3131148"/>
            <a:chOff x="0" y="0"/>
            <a:chExt cx="406400" cy="5988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6400" cy="598827"/>
            </a:xfrm>
            <a:custGeom>
              <a:avLst/>
              <a:gdLst/>
              <a:ahLst/>
              <a:cxnLst/>
              <a:rect l="l" t="t" r="r" b="b"/>
              <a:pathLst>
                <a:path w="406400" h="598827">
                  <a:moveTo>
                    <a:pt x="203200" y="0"/>
                  </a:moveTo>
                  <a:cubicBezTo>
                    <a:pt x="315424" y="0"/>
                    <a:pt x="406400" y="134052"/>
                    <a:pt x="406400" y="299414"/>
                  </a:cubicBezTo>
                  <a:cubicBezTo>
                    <a:pt x="406400" y="464775"/>
                    <a:pt x="315424" y="598827"/>
                    <a:pt x="203200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12034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406400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-1185345" y="19981982"/>
            <a:ext cx="7329029" cy="3131148"/>
            <a:chOff x="0" y="0"/>
            <a:chExt cx="1401666" cy="59882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01666" cy="598827"/>
            </a:xfrm>
            <a:custGeom>
              <a:avLst/>
              <a:gdLst/>
              <a:ahLst/>
              <a:cxnLst/>
              <a:rect l="l" t="t" r="r" b="b"/>
              <a:pathLst>
                <a:path w="1401666" h="598827">
                  <a:moveTo>
                    <a:pt x="1198466" y="0"/>
                  </a:moveTo>
                  <a:cubicBezTo>
                    <a:pt x="1310690" y="0"/>
                    <a:pt x="1401666" y="134052"/>
                    <a:pt x="1401666" y="299414"/>
                  </a:cubicBezTo>
                  <a:cubicBezTo>
                    <a:pt x="1401666" y="464775"/>
                    <a:pt x="1310690" y="598827"/>
                    <a:pt x="1198466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401666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10800000">
            <a:off x="1188731" y="17886765"/>
            <a:ext cx="3700551" cy="1506663"/>
            <a:chOff x="0" y="0"/>
            <a:chExt cx="641376" cy="261133"/>
          </a:xfrm>
        </p:grpSpPr>
        <p:sp>
          <p:nvSpPr>
            <p:cNvPr id="29" name="Freeform 29"/>
            <p:cNvSpPr/>
            <p:nvPr/>
          </p:nvSpPr>
          <p:spPr>
            <a:xfrm>
              <a:off x="51990" y="0"/>
              <a:ext cx="537395" cy="261133"/>
            </a:xfrm>
            <a:custGeom>
              <a:avLst/>
              <a:gdLst/>
              <a:ahLst/>
              <a:cxnLst/>
              <a:rect l="l" t="t" r="r" b="b"/>
              <a:pathLst>
                <a:path w="537395" h="261133">
                  <a:moveTo>
                    <a:pt x="272996" y="0"/>
                  </a:moveTo>
                  <a:lnTo>
                    <a:pt x="494587" y="0"/>
                  </a:lnTo>
                  <a:cubicBezTo>
                    <a:pt x="511412" y="0"/>
                    <a:pt x="526677" y="9856"/>
                    <a:pt x="533601" y="25190"/>
                  </a:cubicBezTo>
                  <a:cubicBezTo>
                    <a:pt x="540526" y="40524"/>
                    <a:pt x="537825" y="58492"/>
                    <a:pt x="526699" y="71114"/>
                  </a:cubicBezTo>
                  <a:lnTo>
                    <a:pt x="421884" y="190020"/>
                  </a:lnTo>
                  <a:cubicBezTo>
                    <a:pt x="382031" y="235231"/>
                    <a:pt x="324669" y="261133"/>
                    <a:pt x="264400" y="261133"/>
                  </a:cubicBezTo>
                  <a:lnTo>
                    <a:pt x="42808" y="261133"/>
                  </a:lnTo>
                  <a:cubicBezTo>
                    <a:pt x="25983" y="261133"/>
                    <a:pt x="10719" y="251277"/>
                    <a:pt x="3794" y="235943"/>
                  </a:cubicBezTo>
                  <a:cubicBezTo>
                    <a:pt x="-3130" y="220609"/>
                    <a:pt x="-429" y="202641"/>
                    <a:pt x="10696" y="190020"/>
                  </a:cubicBezTo>
                  <a:lnTo>
                    <a:pt x="115511" y="71114"/>
                  </a:lnTo>
                  <a:cubicBezTo>
                    <a:pt x="155365" y="25902"/>
                    <a:pt x="212727" y="0"/>
                    <a:pt x="272996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254000" y="-57150"/>
              <a:ext cx="133376" cy="318283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5400000">
            <a:off x="1416678" y="22584005"/>
            <a:ext cx="2124984" cy="3131148"/>
            <a:chOff x="0" y="0"/>
            <a:chExt cx="406400" cy="59882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6400" cy="598827"/>
            </a:xfrm>
            <a:custGeom>
              <a:avLst/>
              <a:gdLst/>
              <a:ahLst/>
              <a:cxnLst/>
              <a:rect l="l" t="t" r="r" b="b"/>
              <a:pathLst>
                <a:path w="406400" h="598827">
                  <a:moveTo>
                    <a:pt x="203200" y="0"/>
                  </a:moveTo>
                  <a:cubicBezTo>
                    <a:pt x="315424" y="0"/>
                    <a:pt x="406400" y="134052"/>
                    <a:pt x="406400" y="299414"/>
                  </a:cubicBezTo>
                  <a:cubicBezTo>
                    <a:pt x="406400" y="464775"/>
                    <a:pt x="315424" y="598827"/>
                    <a:pt x="203200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60E11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406400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5400000">
            <a:off x="3093246" y="21893319"/>
            <a:ext cx="3700551" cy="1506663"/>
            <a:chOff x="0" y="0"/>
            <a:chExt cx="641376" cy="261133"/>
          </a:xfrm>
        </p:grpSpPr>
        <p:sp>
          <p:nvSpPr>
            <p:cNvPr id="35" name="Freeform 35"/>
            <p:cNvSpPr/>
            <p:nvPr/>
          </p:nvSpPr>
          <p:spPr>
            <a:xfrm>
              <a:off x="51990" y="0"/>
              <a:ext cx="537395" cy="261133"/>
            </a:xfrm>
            <a:custGeom>
              <a:avLst/>
              <a:gdLst/>
              <a:ahLst/>
              <a:cxnLst/>
              <a:rect l="l" t="t" r="r" b="b"/>
              <a:pathLst>
                <a:path w="537395" h="261133">
                  <a:moveTo>
                    <a:pt x="272996" y="0"/>
                  </a:moveTo>
                  <a:lnTo>
                    <a:pt x="494587" y="0"/>
                  </a:lnTo>
                  <a:cubicBezTo>
                    <a:pt x="511412" y="0"/>
                    <a:pt x="526677" y="9856"/>
                    <a:pt x="533601" y="25190"/>
                  </a:cubicBezTo>
                  <a:cubicBezTo>
                    <a:pt x="540526" y="40524"/>
                    <a:pt x="537825" y="58492"/>
                    <a:pt x="526699" y="71114"/>
                  </a:cubicBezTo>
                  <a:lnTo>
                    <a:pt x="421884" y="190020"/>
                  </a:lnTo>
                  <a:cubicBezTo>
                    <a:pt x="382031" y="235231"/>
                    <a:pt x="324669" y="261133"/>
                    <a:pt x="264400" y="261133"/>
                  </a:cubicBezTo>
                  <a:lnTo>
                    <a:pt x="42808" y="261133"/>
                  </a:lnTo>
                  <a:cubicBezTo>
                    <a:pt x="25983" y="261133"/>
                    <a:pt x="10719" y="251277"/>
                    <a:pt x="3794" y="235943"/>
                  </a:cubicBezTo>
                  <a:cubicBezTo>
                    <a:pt x="-3130" y="220609"/>
                    <a:pt x="-429" y="202641"/>
                    <a:pt x="10696" y="190020"/>
                  </a:cubicBezTo>
                  <a:lnTo>
                    <a:pt x="115511" y="71114"/>
                  </a:lnTo>
                  <a:cubicBezTo>
                    <a:pt x="155365" y="25902"/>
                    <a:pt x="212727" y="0"/>
                    <a:pt x="272996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254000" y="-57150"/>
              <a:ext cx="133376" cy="318283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186467" y="21640914"/>
            <a:ext cx="7329029" cy="3131148"/>
            <a:chOff x="0" y="0"/>
            <a:chExt cx="1401666" cy="59882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01666" cy="598827"/>
            </a:xfrm>
            <a:custGeom>
              <a:avLst/>
              <a:gdLst/>
              <a:ahLst/>
              <a:cxnLst/>
              <a:rect l="l" t="t" r="r" b="b"/>
              <a:pathLst>
                <a:path w="1401666" h="598827">
                  <a:moveTo>
                    <a:pt x="1198466" y="0"/>
                  </a:moveTo>
                  <a:cubicBezTo>
                    <a:pt x="1310690" y="0"/>
                    <a:pt x="1401666" y="134052"/>
                    <a:pt x="1401666" y="299414"/>
                  </a:cubicBezTo>
                  <a:cubicBezTo>
                    <a:pt x="1401666" y="464775"/>
                    <a:pt x="1310690" y="598827"/>
                    <a:pt x="1198466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1401666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390512" y="21640914"/>
            <a:ext cx="2124984" cy="3131148"/>
            <a:chOff x="0" y="0"/>
            <a:chExt cx="406400" cy="59882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6400" cy="598827"/>
            </a:xfrm>
            <a:custGeom>
              <a:avLst/>
              <a:gdLst/>
              <a:ahLst/>
              <a:cxnLst/>
              <a:rect l="l" t="t" r="r" b="b"/>
              <a:pathLst>
                <a:path w="406400" h="598827">
                  <a:moveTo>
                    <a:pt x="203200" y="0"/>
                  </a:moveTo>
                  <a:cubicBezTo>
                    <a:pt x="315424" y="0"/>
                    <a:pt x="406400" y="134052"/>
                    <a:pt x="406400" y="299414"/>
                  </a:cubicBezTo>
                  <a:cubicBezTo>
                    <a:pt x="406400" y="464775"/>
                    <a:pt x="315424" y="598827"/>
                    <a:pt x="203200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12034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406400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 rot="-5400000">
            <a:off x="5889015" y="16317468"/>
            <a:ext cx="7329029" cy="3131148"/>
            <a:chOff x="0" y="0"/>
            <a:chExt cx="1401666" cy="59882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01666" cy="598827"/>
            </a:xfrm>
            <a:custGeom>
              <a:avLst/>
              <a:gdLst/>
              <a:ahLst/>
              <a:cxnLst/>
              <a:rect l="l" t="t" r="r" b="b"/>
              <a:pathLst>
                <a:path w="1401666" h="598827">
                  <a:moveTo>
                    <a:pt x="1198466" y="0"/>
                  </a:moveTo>
                  <a:cubicBezTo>
                    <a:pt x="1310690" y="0"/>
                    <a:pt x="1401666" y="134052"/>
                    <a:pt x="1401666" y="299414"/>
                  </a:cubicBezTo>
                  <a:cubicBezTo>
                    <a:pt x="1401666" y="464775"/>
                    <a:pt x="1310690" y="598827"/>
                    <a:pt x="1198466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1401666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143417" y="20037170"/>
            <a:ext cx="3700551" cy="1506663"/>
            <a:chOff x="0" y="0"/>
            <a:chExt cx="641376" cy="261133"/>
          </a:xfrm>
        </p:grpSpPr>
        <p:sp>
          <p:nvSpPr>
            <p:cNvPr id="47" name="Freeform 47"/>
            <p:cNvSpPr/>
            <p:nvPr/>
          </p:nvSpPr>
          <p:spPr>
            <a:xfrm>
              <a:off x="51990" y="0"/>
              <a:ext cx="537395" cy="261133"/>
            </a:xfrm>
            <a:custGeom>
              <a:avLst/>
              <a:gdLst/>
              <a:ahLst/>
              <a:cxnLst/>
              <a:rect l="l" t="t" r="r" b="b"/>
              <a:pathLst>
                <a:path w="537395" h="261133">
                  <a:moveTo>
                    <a:pt x="272996" y="0"/>
                  </a:moveTo>
                  <a:lnTo>
                    <a:pt x="494587" y="0"/>
                  </a:lnTo>
                  <a:cubicBezTo>
                    <a:pt x="511412" y="0"/>
                    <a:pt x="526677" y="9856"/>
                    <a:pt x="533601" y="25190"/>
                  </a:cubicBezTo>
                  <a:cubicBezTo>
                    <a:pt x="540526" y="40524"/>
                    <a:pt x="537825" y="58492"/>
                    <a:pt x="526699" y="71114"/>
                  </a:cubicBezTo>
                  <a:lnTo>
                    <a:pt x="421884" y="190020"/>
                  </a:lnTo>
                  <a:cubicBezTo>
                    <a:pt x="382031" y="235231"/>
                    <a:pt x="324669" y="261133"/>
                    <a:pt x="264400" y="261133"/>
                  </a:cubicBezTo>
                  <a:lnTo>
                    <a:pt x="42808" y="261133"/>
                  </a:lnTo>
                  <a:cubicBezTo>
                    <a:pt x="25983" y="261133"/>
                    <a:pt x="10719" y="251277"/>
                    <a:pt x="3794" y="235943"/>
                  </a:cubicBezTo>
                  <a:cubicBezTo>
                    <a:pt x="-3130" y="220609"/>
                    <a:pt x="-429" y="202641"/>
                    <a:pt x="10696" y="190020"/>
                  </a:cubicBezTo>
                  <a:lnTo>
                    <a:pt x="115511" y="71114"/>
                  </a:lnTo>
                  <a:cubicBezTo>
                    <a:pt x="155365" y="25902"/>
                    <a:pt x="212727" y="0"/>
                    <a:pt x="272996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254000" y="-57150"/>
              <a:ext cx="133376" cy="318283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 rot="-5400000">
            <a:off x="8491037" y="13605546"/>
            <a:ext cx="2124984" cy="3131148"/>
            <a:chOff x="0" y="0"/>
            <a:chExt cx="406400" cy="59882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06400" cy="598827"/>
            </a:xfrm>
            <a:custGeom>
              <a:avLst/>
              <a:gdLst/>
              <a:ahLst/>
              <a:cxnLst/>
              <a:rect l="l" t="t" r="r" b="b"/>
              <a:pathLst>
                <a:path w="406400" h="598827">
                  <a:moveTo>
                    <a:pt x="203200" y="0"/>
                  </a:moveTo>
                  <a:cubicBezTo>
                    <a:pt x="315424" y="0"/>
                    <a:pt x="406400" y="134052"/>
                    <a:pt x="406400" y="299414"/>
                  </a:cubicBezTo>
                  <a:cubicBezTo>
                    <a:pt x="406400" y="464775"/>
                    <a:pt x="315424" y="598827"/>
                    <a:pt x="203200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60E11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57150"/>
              <a:ext cx="406400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795855" y="18467861"/>
            <a:ext cx="2563054" cy="2563054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3C3C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5" name="Freeform 55"/>
          <p:cNvSpPr/>
          <p:nvPr/>
        </p:nvSpPr>
        <p:spPr>
          <a:xfrm flipH="1">
            <a:off x="5429644" y="19101651"/>
            <a:ext cx="1295475" cy="1295475"/>
          </a:xfrm>
          <a:custGeom>
            <a:avLst/>
            <a:gdLst/>
            <a:ahLst/>
            <a:cxnLst/>
            <a:rect l="l" t="t" r="r" b="b"/>
            <a:pathLst>
              <a:path w="1295475" h="1295475">
                <a:moveTo>
                  <a:pt x="1295475" y="0"/>
                </a:moveTo>
                <a:lnTo>
                  <a:pt x="0" y="0"/>
                </a:lnTo>
                <a:lnTo>
                  <a:pt x="0" y="1295475"/>
                </a:lnTo>
                <a:lnTo>
                  <a:pt x="1295475" y="1295475"/>
                </a:lnTo>
                <a:lnTo>
                  <a:pt x="129547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1529367" y="27845469"/>
            <a:ext cx="2911889" cy="2911889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A5856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269503" y="28347782"/>
            <a:ext cx="7365443" cy="1890952"/>
            <a:chOff x="0" y="0"/>
            <a:chExt cx="1923541" cy="49383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923541" cy="493836"/>
            </a:xfrm>
            <a:custGeom>
              <a:avLst/>
              <a:gdLst/>
              <a:ahLst/>
              <a:cxnLst/>
              <a:rect l="l" t="t" r="r" b="b"/>
              <a:pathLst>
                <a:path w="1923541" h="493836">
                  <a:moveTo>
                    <a:pt x="58337" y="0"/>
                  </a:moveTo>
                  <a:lnTo>
                    <a:pt x="1681035" y="0"/>
                  </a:lnTo>
                  <a:cubicBezTo>
                    <a:pt x="1828609" y="0"/>
                    <a:pt x="1923541" y="110549"/>
                    <a:pt x="1923541" y="246918"/>
                  </a:cubicBezTo>
                  <a:cubicBezTo>
                    <a:pt x="1923541" y="383287"/>
                    <a:pt x="1828609" y="493836"/>
                    <a:pt x="1681035" y="493836"/>
                  </a:cubicBezTo>
                  <a:lnTo>
                    <a:pt x="58337" y="493836"/>
                  </a:lnTo>
                  <a:cubicBezTo>
                    <a:pt x="42865" y="493836"/>
                    <a:pt x="28027" y="487690"/>
                    <a:pt x="17086" y="476750"/>
                  </a:cubicBezTo>
                  <a:cubicBezTo>
                    <a:pt x="6146" y="465810"/>
                    <a:pt x="0" y="450971"/>
                    <a:pt x="0" y="435499"/>
                  </a:cubicBezTo>
                  <a:lnTo>
                    <a:pt x="0" y="58337"/>
                  </a:lnTo>
                  <a:cubicBezTo>
                    <a:pt x="0" y="42865"/>
                    <a:pt x="6146" y="28027"/>
                    <a:pt x="17086" y="17086"/>
                  </a:cubicBezTo>
                  <a:cubicBezTo>
                    <a:pt x="28027" y="6146"/>
                    <a:pt x="42865" y="0"/>
                    <a:pt x="58337" y="0"/>
                  </a:cubicBezTo>
                  <a:close/>
                </a:path>
              </a:pathLst>
            </a:custGeom>
            <a:solidFill>
              <a:srgbClr val="5A5856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25400" y="-95250"/>
              <a:ext cx="1694941" cy="589086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 rot="-5400000">
            <a:off x="2841958" y="28115143"/>
            <a:ext cx="2883299" cy="2401131"/>
            <a:chOff x="0" y="0"/>
            <a:chExt cx="780901" cy="65031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80902" cy="650313"/>
            </a:xfrm>
            <a:custGeom>
              <a:avLst/>
              <a:gdLst/>
              <a:ahLst/>
              <a:cxnLst/>
              <a:rect l="l" t="t" r="r" b="b"/>
              <a:pathLst>
                <a:path w="780902" h="650313">
                  <a:moveTo>
                    <a:pt x="203200" y="650313"/>
                  </a:moveTo>
                  <a:lnTo>
                    <a:pt x="577702" y="650313"/>
                  </a:lnTo>
                  <a:lnTo>
                    <a:pt x="780902" y="0"/>
                  </a:lnTo>
                  <a:lnTo>
                    <a:pt x="0" y="0"/>
                  </a:lnTo>
                  <a:lnTo>
                    <a:pt x="203200" y="650313"/>
                  </a:lnTo>
                  <a:close/>
                </a:path>
              </a:pathLst>
            </a:custGeom>
            <a:solidFill>
              <a:srgbClr val="5A5856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127000" y="-95250"/>
              <a:ext cx="526901" cy="745563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139665" y="28489747"/>
            <a:ext cx="1691293" cy="1691293"/>
            <a:chOff x="0" y="0"/>
            <a:chExt cx="812800" cy="8128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76200" y="-190500"/>
              <a:ext cx="660400" cy="927100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9520"/>
                </a:lnSpc>
              </a:pPr>
              <a:r>
                <a:rPr lang="en-US" sz="6800" b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4705330" y="28450116"/>
            <a:ext cx="5394669" cy="173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Risk identification and literature review</a:t>
            </a:r>
          </a:p>
          <a:p>
            <a:pPr marL="457200" indent="-457200" algn="just">
              <a:lnSpc>
                <a:spcPts val="273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Personnel consultation</a:t>
            </a:r>
          </a:p>
          <a:p>
            <a:pPr marL="457200" indent="-457200" algn="just">
              <a:lnSpc>
                <a:spcPts val="273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Risk identification</a:t>
            </a:r>
          </a:p>
          <a:p>
            <a:pPr marL="457200" indent="-457200" algn="just">
              <a:lnSpc>
                <a:spcPts val="273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Literature review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537308" y="32472035"/>
            <a:ext cx="2911889" cy="2911889"/>
            <a:chOff x="0" y="0"/>
            <a:chExt cx="812800" cy="812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277444" y="32974347"/>
            <a:ext cx="7365443" cy="1890952"/>
            <a:chOff x="0" y="0"/>
            <a:chExt cx="1923541" cy="49383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923541" cy="493836"/>
            </a:xfrm>
            <a:custGeom>
              <a:avLst/>
              <a:gdLst/>
              <a:ahLst/>
              <a:cxnLst/>
              <a:rect l="l" t="t" r="r" b="b"/>
              <a:pathLst>
                <a:path w="1923541" h="493836">
                  <a:moveTo>
                    <a:pt x="58337" y="0"/>
                  </a:moveTo>
                  <a:lnTo>
                    <a:pt x="1681035" y="0"/>
                  </a:lnTo>
                  <a:cubicBezTo>
                    <a:pt x="1828609" y="0"/>
                    <a:pt x="1923541" y="110549"/>
                    <a:pt x="1923541" y="246918"/>
                  </a:cubicBezTo>
                  <a:cubicBezTo>
                    <a:pt x="1923541" y="383287"/>
                    <a:pt x="1828609" y="493836"/>
                    <a:pt x="1681035" y="493836"/>
                  </a:cubicBezTo>
                  <a:lnTo>
                    <a:pt x="58337" y="493836"/>
                  </a:lnTo>
                  <a:cubicBezTo>
                    <a:pt x="42865" y="493836"/>
                    <a:pt x="28027" y="487690"/>
                    <a:pt x="17086" y="476750"/>
                  </a:cubicBezTo>
                  <a:cubicBezTo>
                    <a:pt x="6146" y="465810"/>
                    <a:pt x="0" y="450971"/>
                    <a:pt x="0" y="435499"/>
                  </a:cubicBezTo>
                  <a:lnTo>
                    <a:pt x="0" y="58337"/>
                  </a:lnTo>
                  <a:cubicBezTo>
                    <a:pt x="0" y="42865"/>
                    <a:pt x="6146" y="28027"/>
                    <a:pt x="17086" y="17086"/>
                  </a:cubicBezTo>
                  <a:cubicBezTo>
                    <a:pt x="28027" y="6146"/>
                    <a:pt x="42865" y="0"/>
                    <a:pt x="58337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25400" y="-95250"/>
              <a:ext cx="1694941" cy="589086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 rot="-5400000">
            <a:off x="2849900" y="32741709"/>
            <a:ext cx="2883299" cy="2401131"/>
            <a:chOff x="0" y="0"/>
            <a:chExt cx="780901" cy="650313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80902" cy="650313"/>
            </a:xfrm>
            <a:custGeom>
              <a:avLst/>
              <a:gdLst/>
              <a:ahLst/>
              <a:cxnLst/>
              <a:rect l="l" t="t" r="r" b="b"/>
              <a:pathLst>
                <a:path w="780902" h="650313">
                  <a:moveTo>
                    <a:pt x="203200" y="650313"/>
                  </a:moveTo>
                  <a:lnTo>
                    <a:pt x="577702" y="650313"/>
                  </a:lnTo>
                  <a:lnTo>
                    <a:pt x="780902" y="0"/>
                  </a:lnTo>
                  <a:lnTo>
                    <a:pt x="0" y="0"/>
                  </a:lnTo>
                  <a:lnTo>
                    <a:pt x="203200" y="650313"/>
                  </a:ln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127000" y="-95250"/>
              <a:ext cx="526901" cy="745563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147606" y="33116312"/>
            <a:ext cx="1691293" cy="1691293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0" name="TextBox 80"/>
            <p:cNvSpPr txBox="1"/>
            <p:nvPr/>
          </p:nvSpPr>
          <p:spPr>
            <a:xfrm>
              <a:off x="76200" y="-190500"/>
              <a:ext cx="660400" cy="927100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9520"/>
                </a:lnSpc>
              </a:pPr>
              <a:r>
                <a:rPr lang="en-US" sz="6800" b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 rot="-10800000">
            <a:off x="9845577" y="30021789"/>
            <a:ext cx="2911889" cy="2911889"/>
            <a:chOff x="0" y="0"/>
            <a:chExt cx="812800" cy="8128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83" name="TextBox 83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31173" tIns="31173" rIns="31173" bIns="31173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 rot="-10800000">
            <a:off x="3651887" y="30540414"/>
            <a:ext cx="7365443" cy="1890952"/>
            <a:chOff x="0" y="0"/>
            <a:chExt cx="1923541" cy="49383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923541" cy="493836"/>
            </a:xfrm>
            <a:custGeom>
              <a:avLst/>
              <a:gdLst/>
              <a:ahLst/>
              <a:cxnLst/>
              <a:rect l="l" t="t" r="r" b="b"/>
              <a:pathLst>
                <a:path w="1923541" h="493836">
                  <a:moveTo>
                    <a:pt x="58337" y="0"/>
                  </a:moveTo>
                  <a:lnTo>
                    <a:pt x="1681035" y="0"/>
                  </a:lnTo>
                  <a:cubicBezTo>
                    <a:pt x="1828609" y="0"/>
                    <a:pt x="1923541" y="110549"/>
                    <a:pt x="1923541" y="246918"/>
                  </a:cubicBezTo>
                  <a:cubicBezTo>
                    <a:pt x="1923541" y="383287"/>
                    <a:pt x="1828609" y="493836"/>
                    <a:pt x="1681035" y="493836"/>
                  </a:cubicBezTo>
                  <a:lnTo>
                    <a:pt x="58337" y="493836"/>
                  </a:lnTo>
                  <a:cubicBezTo>
                    <a:pt x="42865" y="493836"/>
                    <a:pt x="28027" y="487690"/>
                    <a:pt x="17086" y="476750"/>
                  </a:cubicBezTo>
                  <a:cubicBezTo>
                    <a:pt x="6146" y="465810"/>
                    <a:pt x="0" y="450971"/>
                    <a:pt x="0" y="435499"/>
                  </a:cubicBezTo>
                  <a:lnTo>
                    <a:pt x="0" y="58337"/>
                  </a:lnTo>
                  <a:cubicBezTo>
                    <a:pt x="0" y="42865"/>
                    <a:pt x="6146" y="28027"/>
                    <a:pt x="17086" y="17086"/>
                  </a:cubicBezTo>
                  <a:cubicBezTo>
                    <a:pt x="28027" y="6146"/>
                    <a:pt x="42865" y="0"/>
                    <a:pt x="58337" y="0"/>
                  </a:cubicBezTo>
                  <a:close/>
                </a:path>
              </a:pathLst>
            </a:custGeom>
            <a:solidFill>
              <a:srgbClr val="0F2850"/>
            </a:solidFill>
          </p:spPr>
          <p:txBody>
            <a:bodyPr/>
            <a:lstStyle/>
            <a:p>
              <a:endParaRPr lang="es-EC" dirty="0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25400" y="-47625"/>
              <a:ext cx="1694941" cy="541461"/>
            </a:xfrm>
            <a:prstGeom prst="rect">
              <a:avLst/>
            </a:prstGeom>
          </p:spPr>
          <p:txBody>
            <a:bodyPr lIns="31173" tIns="31173" rIns="31173" bIns="31173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 rot="5400000">
            <a:off x="8561576" y="30262873"/>
            <a:ext cx="2883299" cy="2401131"/>
            <a:chOff x="0" y="0"/>
            <a:chExt cx="780901" cy="650313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80902" cy="650313"/>
            </a:xfrm>
            <a:custGeom>
              <a:avLst/>
              <a:gdLst/>
              <a:ahLst/>
              <a:cxnLst/>
              <a:rect l="l" t="t" r="r" b="b"/>
              <a:pathLst>
                <a:path w="780902" h="650313">
                  <a:moveTo>
                    <a:pt x="203200" y="650313"/>
                  </a:moveTo>
                  <a:lnTo>
                    <a:pt x="577702" y="650313"/>
                  </a:lnTo>
                  <a:lnTo>
                    <a:pt x="780902" y="0"/>
                  </a:lnTo>
                  <a:lnTo>
                    <a:pt x="0" y="0"/>
                  </a:lnTo>
                  <a:lnTo>
                    <a:pt x="203200" y="650313"/>
                  </a:ln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127000" y="-95250"/>
              <a:ext cx="526901" cy="745563"/>
            </a:xfrm>
            <a:prstGeom prst="rect">
              <a:avLst/>
            </a:prstGeom>
          </p:spPr>
          <p:txBody>
            <a:bodyPr lIns="31173" tIns="31173" rIns="31173" bIns="31173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0455876" y="30598107"/>
            <a:ext cx="1691293" cy="1691293"/>
            <a:chOff x="0" y="0"/>
            <a:chExt cx="812800" cy="8128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76200" y="-190500"/>
              <a:ext cx="660400" cy="927100"/>
            </a:xfrm>
            <a:prstGeom prst="rect">
              <a:avLst/>
            </a:prstGeom>
          </p:spPr>
          <p:txBody>
            <a:bodyPr lIns="31173" tIns="31173" rIns="31173" bIns="31173" rtlCol="0" anchor="ctr"/>
            <a:lstStyle/>
            <a:p>
              <a:pPr algn="ctr">
                <a:lnSpc>
                  <a:spcPts val="9520"/>
                </a:lnSpc>
              </a:pPr>
              <a:r>
                <a:rPr lang="en-US" sz="6800" b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99570" y="24957121"/>
            <a:ext cx="3850520" cy="3050712"/>
            <a:chOff x="-5563" y="-95250"/>
            <a:chExt cx="375491" cy="297497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69928" cy="106997"/>
            </a:xfrm>
            <a:custGeom>
              <a:avLst/>
              <a:gdLst/>
              <a:ahLst/>
              <a:cxnLst/>
              <a:rect l="l" t="t" r="r" b="b"/>
              <a:pathLst>
                <a:path w="369928" h="106997">
                  <a:moveTo>
                    <a:pt x="0" y="0"/>
                  </a:moveTo>
                  <a:lnTo>
                    <a:pt x="369928" y="0"/>
                  </a:lnTo>
                  <a:lnTo>
                    <a:pt x="369928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-5563" y="-95250"/>
              <a:ext cx="369928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Methodology</a:t>
              </a:r>
            </a:p>
          </p:txBody>
        </p:sp>
      </p:grpSp>
      <p:sp>
        <p:nvSpPr>
          <p:cNvPr id="96" name="Freeform 96"/>
          <p:cNvSpPr/>
          <p:nvPr/>
        </p:nvSpPr>
        <p:spPr>
          <a:xfrm>
            <a:off x="4523847" y="25933871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97" name="Group 97"/>
          <p:cNvGrpSpPr/>
          <p:nvPr/>
        </p:nvGrpSpPr>
        <p:grpSpPr>
          <a:xfrm>
            <a:off x="663717" y="34883354"/>
            <a:ext cx="6088322" cy="3050712"/>
            <a:chOff x="0" y="-94440"/>
            <a:chExt cx="593715" cy="297497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925" y="-94440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Curricular Integration</a:t>
              </a:r>
            </a:p>
          </p:txBody>
        </p:sp>
      </p:grpSp>
      <p:sp>
        <p:nvSpPr>
          <p:cNvPr id="100" name="Freeform 100"/>
          <p:cNvSpPr/>
          <p:nvPr/>
        </p:nvSpPr>
        <p:spPr>
          <a:xfrm>
            <a:off x="6813343" y="35927099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01" name="Group 101"/>
          <p:cNvGrpSpPr/>
          <p:nvPr/>
        </p:nvGrpSpPr>
        <p:grpSpPr>
          <a:xfrm>
            <a:off x="7675847" y="35309305"/>
            <a:ext cx="6212044" cy="3050712"/>
            <a:chOff x="0" y="-89480"/>
            <a:chExt cx="605780" cy="297497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7990" y="-89480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Applied Engineering</a:t>
              </a:r>
            </a:p>
          </p:txBody>
        </p:sp>
      </p:grpSp>
      <p:sp>
        <p:nvSpPr>
          <p:cNvPr id="104" name="Freeform 104"/>
          <p:cNvSpPr/>
          <p:nvPr/>
        </p:nvSpPr>
        <p:spPr>
          <a:xfrm>
            <a:off x="13841299" y="36226886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05" name="Group 105"/>
          <p:cNvGrpSpPr/>
          <p:nvPr/>
        </p:nvGrpSpPr>
        <p:grpSpPr>
          <a:xfrm>
            <a:off x="15189563" y="6308169"/>
            <a:ext cx="6047888" cy="3050712"/>
            <a:chOff x="0" y="-102500"/>
            <a:chExt cx="589772" cy="297497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  <p:txBody>
            <a:bodyPr/>
            <a:lstStyle/>
            <a:p>
              <a:endParaRPr lang="es-EC" dirty="0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982" y="-102500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s-EC" sz="4800" b="1" dirty="0" err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Results</a:t>
              </a:r>
              <a:endParaRPr lang="es-EC" sz="4800" b="1" dirty="0">
                <a:solidFill>
                  <a:srgbClr val="0F285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108" name="Freeform 108"/>
          <p:cNvSpPr/>
          <p:nvPr/>
        </p:nvSpPr>
        <p:spPr>
          <a:xfrm>
            <a:off x="21355016" y="7359265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09" name="Group 109"/>
          <p:cNvGrpSpPr/>
          <p:nvPr/>
        </p:nvGrpSpPr>
        <p:grpSpPr>
          <a:xfrm>
            <a:off x="15083064" y="8761276"/>
            <a:ext cx="3731505" cy="3731505"/>
            <a:chOff x="0" y="0"/>
            <a:chExt cx="812800" cy="81280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A86"/>
            </a:solidFill>
          </p:spPr>
        </p:sp>
        <p:sp>
          <p:nvSpPr>
            <p:cNvPr id="111" name="TextBox 1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6596438" y="9311761"/>
            <a:ext cx="9396189" cy="2522234"/>
            <a:chOff x="0" y="0"/>
            <a:chExt cx="1522904" cy="408796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522904" cy="408796"/>
            </a:xfrm>
            <a:custGeom>
              <a:avLst/>
              <a:gdLst/>
              <a:ahLst/>
              <a:cxnLst/>
              <a:rect l="l" t="t" r="r" b="b"/>
              <a:pathLst>
                <a:path w="1522904" h="408796">
                  <a:moveTo>
                    <a:pt x="45729" y="0"/>
                  </a:moveTo>
                  <a:lnTo>
                    <a:pt x="1289689" y="0"/>
                  </a:lnTo>
                  <a:cubicBezTo>
                    <a:pt x="1427973" y="0"/>
                    <a:pt x="1522904" y="91512"/>
                    <a:pt x="1522904" y="204398"/>
                  </a:cubicBezTo>
                  <a:cubicBezTo>
                    <a:pt x="1522904" y="317284"/>
                    <a:pt x="1427973" y="408796"/>
                    <a:pt x="1289689" y="408796"/>
                  </a:cubicBezTo>
                  <a:lnTo>
                    <a:pt x="45729" y="408796"/>
                  </a:lnTo>
                  <a:cubicBezTo>
                    <a:pt x="33601" y="408796"/>
                    <a:pt x="21969" y="403978"/>
                    <a:pt x="13394" y="395402"/>
                  </a:cubicBezTo>
                  <a:cubicBezTo>
                    <a:pt x="4818" y="386826"/>
                    <a:pt x="0" y="375195"/>
                    <a:pt x="0" y="363067"/>
                  </a:cubicBezTo>
                  <a:lnTo>
                    <a:pt x="0" y="45729"/>
                  </a:lnTo>
                  <a:cubicBezTo>
                    <a:pt x="0" y="33601"/>
                    <a:pt x="4818" y="21969"/>
                    <a:pt x="13394" y="13394"/>
                  </a:cubicBezTo>
                  <a:cubicBezTo>
                    <a:pt x="21969" y="4818"/>
                    <a:pt x="33601" y="0"/>
                    <a:pt x="45729" y="0"/>
                  </a:cubicBezTo>
                  <a:close/>
                </a:path>
              </a:pathLst>
            </a:custGeom>
            <a:solidFill>
              <a:srgbClr val="857A86"/>
            </a:solidFill>
          </p:spPr>
        </p:sp>
        <p:sp>
          <p:nvSpPr>
            <p:cNvPr id="114" name="TextBox 114"/>
            <p:cNvSpPr txBox="1"/>
            <p:nvPr/>
          </p:nvSpPr>
          <p:spPr>
            <a:xfrm>
              <a:off x="25400" y="-57150"/>
              <a:ext cx="1294304" cy="465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5083064" y="14919393"/>
            <a:ext cx="3731505" cy="3731505"/>
            <a:chOff x="0" y="0"/>
            <a:chExt cx="812800" cy="81280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17" name="TextBox 1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6596438" y="15469878"/>
            <a:ext cx="9396189" cy="2522234"/>
            <a:chOff x="0" y="0"/>
            <a:chExt cx="1522904" cy="408796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522904" cy="408796"/>
            </a:xfrm>
            <a:custGeom>
              <a:avLst/>
              <a:gdLst/>
              <a:ahLst/>
              <a:cxnLst/>
              <a:rect l="l" t="t" r="r" b="b"/>
              <a:pathLst>
                <a:path w="1522904" h="408796">
                  <a:moveTo>
                    <a:pt x="45729" y="0"/>
                  </a:moveTo>
                  <a:lnTo>
                    <a:pt x="1289689" y="0"/>
                  </a:lnTo>
                  <a:cubicBezTo>
                    <a:pt x="1427973" y="0"/>
                    <a:pt x="1522904" y="91512"/>
                    <a:pt x="1522904" y="204398"/>
                  </a:cubicBezTo>
                  <a:cubicBezTo>
                    <a:pt x="1522904" y="317284"/>
                    <a:pt x="1427973" y="408796"/>
                    <a:pt x="1289689" y="408796"/>
                  </a:cubicBezTo>
                  <a:lnTo>
                    <a:pt x="45729" y="408796"/>
                  </a:lnTo>
                  <a:cubicBezTo>
                    <a:pt x="33601" y="408796"/>
                    <a:pt x="21969" y="403978"/>
                    <a:pt x="13394" y="395402"/>
                  </a:cubicBezTo>
                  <a:cubicBezTo>
                    <a:pt x="4818" y="386826"/>
                    <a:pt x="0" y="375195"/>
                    <a:pt x="0" y="363067"/>
                  </a:cubicBezTo>
                  <a:lnTo>
                    <a:pt x="0" y="45729"/>
                  </a:lnTo>
                  <a:cubicBezTo>
                    <a:pt x="0" y="33601"/>
                    <a:pt x="4818" y="21969"/>
                    <a:pt x="13394" y="13394"/>
                  </a:cubicBezTo>
                  <a:cubicBezTo>
                    <a:pt x="21969" y="4818"/>
                    <a:pt x="33601" y="0"/>
                    <a:pt x="45729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20" name="TextBox 120"/>
            <p:cNvSpPr txBox="1"/>
            <p:nvPr/>
          </p:nvSpPr>
          <p:spPr>
            <a:xfrm>
              <a:off x="25400" y="-57150"/>
              <a:ext cx="1294304" cy="465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21" name="Group 121"/>
          <p:cNvGrpSpPr/>
          <p:nvPr/>
        </p:nvGrpSpPr>
        <p:grpSpPr>
          <a:xfrm rot="-10800000">
            <a:off x="26068827" y="11738373"/>
            <a:ext cx="3731505" cy="3731505"/>
            <a:chOff x="0" y="0"/>
            <a:chExt cx="812800" cy="8128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23" name="TextBox 1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24" name="Group 124"/>
          <p:cNvGrpSpPr/>
          <p:nvPr/>
        </p:nvGrpSpPr>
        <p:grpSpPr>
          <a:xfrm rot="-10800000">
            <a:off x="18911771" y="12396111"/>
            <a:ext cx="9396189" cy="2522234"/>
            <a:chOff x="0" y="0"/>
            <a:chExt cx="1522904" cy="408796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1522904" cy="408796"/>
            </a:xfrm>
            <a:custGeom>
              <a:avLst/>
              <a:gdLst/>
              <a:ahLst/>
              <a:cxnLst/>
              <a:rect l="l" t="t" r="r" b="b"/>
              <a:pathLst>
                <a:path w="1522904" h="408796">
                  <a:moveTo>
                    <a:pt x="45729" y="0"/>
                  </a:moveTo>
                  <a:lnTo>
                    <a:pt x="1289689" y="0"/>
                  </a:lnTo>
                  <a:cubicBezTo>
                    <a:pt x="1427973" y="0"/>
                    <a:pt x="1522904" y="91512"/>
                    <a:pt x="1522904" y="204398"/>
                  </a:cubicBezTo>
                  <a:cubicBezTo>
                    <a:pt x="1522904" y="317284"/>
                    <a:pt x="1427973" y="408796"/>
                    <a:pt x="1289689" y="408796"/>
                  </a:cubicBezTo>
                  <a:lnTo>
                    <a:pt x="45729" y="408796"/>
                  </a:lnTo>
                  <a:cubicBezTo>
                    <a:pt x="33601" y="408796"/>
                    <a:pt x="21969" y="403978"/>
                    <a:pt x="13394" y="395402"/>
                  </a:cubicBezTo>
                  <a:cubicBezTo>
                    <a:pt x="4818" y="386826"/>
                    <a:pt x="0" y="375195"/>
                    <a:pt x="0" y="363067"/>
                  </a:cubicBezTo>
                  <a:lnTo>
                    <a:pt x="0" y="45729"/>
                  </a:lnTo>
                  <a:cubicBezTo>
                    <a:pt x="0" y="33601"/>
                    <a:pt x="4818" y="21969"/>
                    <a:pt x="13394" y="13394"/>
                  </a:cubicBezTo>
                  <a:cubicBezTo>
                    <a:pt x="21969" y="4818"/>
                    <a:pt x="33601" y="0"/>
                    <a:pt x="45729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26" name="TextBox 126"/>
            <p:cNvSpPr txBox="1"/>
            <p:nvPr/>
          </p:nvSpPr>
          <p:spPr>
            <a:xfrm>
              <a:off x="25400" y="-57150"/>
              <a:ext cx="1294304" cy="465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5104878" y="18417875"/>
            <a:ext cx="6060685" cy="3050712"/>
            <a:chOff x="-3230" y="-99147"/>
            <a:chExt cx="591020" cy="297497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-3230" y="-99147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Conclusions</a:t>
              </a:r>
            </a:p>
          </p:txBody>
        </p:sp>
      </p:grpSp>
      <p:sp>
        <p:nvSpPr>
          <p:cNvPr id="130" name="Freeform 130"/>
          <p:cNvSpPr/>
          <p:nvPr/>
        </p:nvSpPr>
        <p:spPr>
          <a:xfrm>
            <a:off x="21303453" y="19434588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31" name="Group 131"/>
          <p:cNvGrpSpPr/>
          <p:nvPr/>
        </p:nvGrpSpPr>
        <p:grpSpPr>
          <a:xfrm rot="-5400000">
            <a:off x="11392906" y="23530939"/>
            <a:ext cx="8733110" cy="3896880"/>
            <a:chOff x="0" y="0"/>
            <a:chExt cx="939225" cy="41910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939225" cy="419100"/>
            </a:xfrm>
            <a:custGeom>
              <a:avLst/>
              <a:gdLst/>
              <a:ahLst/>
              <a:cxnLst/>
              <a:rect l="l" t="t" r="r" b="b"/>
              <a:pathLst>
                <a:path w="939225" h="419100">
                  <a:moveTo>
                    <a:pt x="49201" y="0"/>
                  </a:moveTo>
                  <a:lnTo>
                    <a:pt x="719545" y="0"/>
                  </a:lnTo>
                  <a:cubicBezTo>
                    <a:pt x="844294" y="0"/>
                    <a:pt x="939225" y="93819"/>
                    <a:pt x="939225" y="209550"/>
                  </a:cubicBezTo>
                  <a:cubicBezTo>
                    <a:pt x="939225" y="325281"/>
                    <a:pt x="844294" y="419100"/>
                    <a:pt x="719545" y="419100"/>
                  </a:cubicBezTo>
                  <a:lnTo>
                    <a:pt x="49201" y="419100"/>
                  </a:lnTo>
                  <a:cubicBezTo>
                    <a:pt x="22028" y="419100"/>
                    <a:pt x="0" y="397072"/>
                    <a:pt x="0" y="369899"/>
                  </a:cubicBezTo>
                  <a:lnTo>
                    <a:pt x="0" y="49201"/>
                  </a:lnTo>
                  <a:cubicBezTo>
                    <a:pt x="0" y="22028"/>
                    <a:pt x="22028" y="0"/>
                    <a:pt x="49201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33" name="TextBox 133"/>
            <p:cNvSpPr txBox="1"/>
            <p:nvPr/>
          </p:nvSpPr>
          <p:spPr>
            <a:xfrm>
              <a:off x="25400" y="-95250"/>
              <a:ext cx="710625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34" name="Group 134"/>
          <p:cNvGrpSpPr/>
          <p:nvPr/>
        </p:nvGrpSpPr>
        <p:grpSpPr>
          <a:xfrm rot="-5400000">
            <a:off x="14663127" y="20260717"/>
            <a:ext cx="2192667" cy="3896880"/>
            <a:chOff x="0" y="0"/>
            <a:chExt cx="235816" cy="419100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235816" cy="419100"/>
            </a:xfrm>
            <a:custGeom>
              <a:avLst/>
              <a:gdLst/>
              <a:ahLst/>
              <a:cxnLst/>
              <a:rect l="l" t="t" r="r" b="b"/>
              <a:pathLst>
                <a:path w="235816" h="419100">
                  <a:moveTo>
                    <a:pt x="16224" y="0"/>
                  </a:moveTo>
                  <a:lnTo>
                    <a:pt x="32449" y="0"/>
                  </a:lnTo>
                  <a:cubicBezTo>
                    <a:pt x="140885" y="0"/>
                    <a:pt x="235816" y="93819"/>
                    <a:pt x="235816" y="209550"/>
                  </a:cubicBezTo>
                  <a:cubicBezTo>
                    <a:pt x="235816" y="325281"/>
                    <a:pt x="140885" y="419100"/>
                    <a:pt x="32449" y="419100"/>
                  </a:cubicBezTo>
                  <a:lnTo>
                    <a:pt x="16224" y="419100"/>
                  </a:lnTo>
                  <a:cubicBezTo>
                    <a:pt x="11921" y="419100"/>
                    <a:pt x="7795" y="417391"/>
                    <a:pt x="4752" y="414348"/>
                  </a:cubicBezTo>
                  <a:cubicBezTo>
                    <a:pt x="1709" y="411305"/>
                    <a:pt x="0" y="407179"/>
                    <a:pt x="0" y="402876"/>
                  </a:cubicBezTo>
                  <a:lnTo>
                    <a:pt x="0" y="16224"/>
                  </a:lnTo>
                  <a:cubicBezTo>
                    <a:pt x="0" y="11921"/>
                    <a:pt x="1709" y="7795"/>
                    <a:pt x="4752" y="4752"/>
                  </a:cubicBezTo>
                  <a:cubicBezTo>
                    <a:pt x="7795" y="1709"/>
                    <a:pt x="11921" y="0"/>
                    <a:pt x="16224" y="0"/>
                  </a:cubicBezTo>
                  <a:close/>
                </a:path>
              </a:pathLst>
            </a:custGeom>
            <a:solidFill>
              <a:srgbClr val="660E11"/>
            </a:solidFill>
          </p:spPr>
        </p:sp>
        <p:sp>
          <p:nvSpPr>
            <p:cNvPr id="136" name="TextBox 136"/>
            <p:cNvSpPr txBox="1"/>
            <p:nvPr/>
          </p:nvSpPr>
          <p:spPr>
            <a:xfrm>
              <a:off x="25400" y="-95250"/>
              <a:ext cx="7216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37" name="Group 137"/>
          <p:cNvGrpSpPr/>
          <p:nvPr/>
        </p:nvGrpSpPr>
        <p:grpSpPr>
          <a:xfrm rot="-5400000">
            <a:off x="15466402" y="23530939"/>
            <a:ext cx="8733110" cy="3896880"/>
            <a:chOff x="0" y="0"/>
            <a:chExt cx="939225" cy="419100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939225" cy="419100"/>
            </a:xfrm>
            <a:custGeom>
              <a:avLst/>
              <a:gdLst/>
              <a:ahLst/>
              <a:cxnLst/>
              <a:rect l="l" t="t" r="r" b="b"/>
              <a:pathLst>
                <a:path w="939225" h="419100">
                  <a:moveTo>
                    <a:pt x="49201" y="0"/>
                  </a:moveTo>
                  <a:lnTo>
                    <a:pt x="719545" y="0"/>
                  </a:lnTo>
                  <a:cubicBezTo>
                    <a:pt x="844294" y="0"/>
                    <a:pt x="939225" y="93819"/>
                    <a:pt x="939225" y="209550"/>
                  </a:cubicBezTo>
                  <a:cubicBezTo>
                    <a:pt x="939225" y="325281"/>
                    <a:pt x="844294" y="419100"/>
                    <a:pt x="719545" y="419100"/>
                  </a:cubicBezTo>
                  <a:lnTo>
                    <a:pt x="49201" y="419100"/>
                  </a:lnTo>
                  <a:cubicBezTo>
                    <a:pt x="22028" y="419100"/>
                    <a:pt x="0" y="397072"/>
                    <a:pt x="0" y="369899"/>
                  </a:cubicBezTo>
                  <a:lnTo>
                    <a:pt x="0" y="49201"/>
                  </a:lnTo>
                  <a:cubicBezTo>
                    <a:pt x="0" y="22028"/>
                    <a:pt x="22028" y="0"/>
                    <a:pt x="49201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39" name="TextBox 139"/>
            <p:cNvSpPr txBox="1"/>
            <p:nvPr/>
          </p:nvSpPr>
          <p:spPr>
            <a:xfrm>
              <a:off x="25400" y="-95250"/>
              <a:ext cx="710625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40" name="Group 140"/>
          <p:cNvGrpSpPr/>
          <p:nvPr/>
        </p:nvGrpSpPr>
        <p:grpSpPr>
          <a:xfrm rot="-5400000">
            <a:off x="18736624" y="20260717"/>
            <a:ext cx="2192667" cy="3896880"/>
            <a:chOff x="0" y="0"/>
            <a:chExt cx="235816" cy="419100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235816" cy="419100"/>
            </a:xfrm>
            <a:custGeom>
              <a:avLst/>
              <a:gdLst/>
              <a:ahLst/>
              <a:cxnLst/>
              <a:rect l="l" t="t" r="r" b="b"/>
              <a:pathLst>
                <a:path w="235816" h="419100">
                  <a:moveTo>
                    <a:pt x="16224" y="0"/>
                  </a:moveTo>
                  <a:lnTo>
                    <a:pt x="32449" y="0"/>
                  </a:lnTo>
                  <a:cubicBezTo>
                    <a:pt x="140885" y="0"/>
                    <a:pt x="235816" y="93819"/>
                    <a:pt x="235816" y="209550"/>
                  </a:cubicBezTo>
                  <a:cubicBezTo>
                    <a:pt x="235816" y="325281"/>
                    <a:pt x="140885" y="419100"/>
                    <a:pt x="32449" y="419100"/>
                  </a:cubicBezTo>
                  <a:lnTo>
                    <a:pt x="16224" y="419100"/>
                  </a:lnTo>
                  <a:cubicBezTo>
                    <a:pt x="11921" y="419100"/>
                    <a:pt x="7795" y="417391"/>
                    <a:pt x="4752" y="414348"/>
                  </a:cubicBezTo>
                  <a:cubicBezTo>
                    <a:pt x="1709" y="411305"/>
                    <a:pt x="0" y="407179"/>
                    <a:pt x="0" y="402876"/>
                  </a:cubicBezTo>
                  <a:lnTo>
                    <a:pt x="0" y="16224"/>
                  </a:lnTo>
                  <a:cubicBezTo>
                    <a:pt x="0" y="11921"/>
                    <a:pt x="1709" y="7795"/>
                    <a:pt x="4752" y="4752"/>
                  </a:cubicBezTo>
                  <a:cubicBezTo>
                    <a:pt x="7795" y="1709"/>
                    <a:pt x="11921" y="0"/>
                    <a:pt x="16224" y="0"/>
                  </a:cubicBezTo>
                  <a:close/>
                </a:path>
              </a:pathLst>
            </a:custGeom>
            <a:solidFill>
              <a:srgbClr val="012034"/>
            </a:solidFill>
          </p:spPr>
        </p:sp>
        <p:sp>
          <p:nvSpPr>
            <p:cNvPr id="142" name="TextBox 142"/>
            <p:cNvSpPr txBox="1"/>
            <p:nvPr/>
          </p:nvSpPr>
          <p:spPr>
            <a:xfrm>
              <a:off x="25400" y="-95250"/>
              <a:ext cx="7216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43" name="Group 143"/>
          <p:cNvGrpSpPr/>
          <p:nvPr/>
        </p:nvGrpSpPr>
        <p:grpSpPr>
          <a:xfrm rot="-5400000">
            <a:off x="23604025" y="23530939"/>
            <a:ext cx="8733110" cy="3896880"/>
            <a:chOff x="0" y="0"/>
            <a:chExt cx="939225" cy="41910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939225" cy="419100"/>
            </a:xfrm>
            <a:custGeom>
              <a:avLst/>
              <a:gdLst/>
              <a:ahLst/>
              <a:cxnLst/>
              <a:rect l="l" t="t" r="r" b="b"/>
              <a:pathLst>
                <a:path w="939225" h="419100">
                  <a:moveTo>
                    <a:pt x="49201" y="0"/>
                  </a:moveTo>
                  <a:lnTo>
                    <a:pt x="719545" y="0"/>
                  </a:lnTo>
                  <a:cubicBezTo>
                    <a:pt x="844294" y="0"/>
                    <a:pt x="939225" y="93819"/>
                    <a:pt x="939225" y="209550"/>
                  </a:cubicBezTo>
                  <a:cubicBezTo>
                    <a:pt x="939225" y="325281"/>
                    <a:pt x="844294" y="419100"/>
                    <a:pt x="719545" y="419100"/>
                  </a:cubicBezTo>
                  <a:lnTo>
                    <a:pt x="49201" y="419100"/>
                  </a:lnTo>
                  <a:cubicBezTo>
                    <a:pt x="22028" y="419100"/>
                    <a:pt x="0" y="397072"/>
                    <a:pt x="0" y="369899"/>
                  </a:cubicBezTo>
                  <a:lnTo>
                    <a:pt x="0" y="49201"/>
                  </a:lnTo>
                  <a:cubicBezTo>
                    <a:pt x="0" y="22028"/>
                    <a:pt x="22028" y="0"/>
                    <a:pt x="49201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45" name="TextBox 145"/>
            <p:cNvSpPr txBox="1"/>
            <p:nvPr/>
          </p:nvSpPr>
          <p:spPr>
            <a:xfrm>
              <a:off x="25400" y="-95250"/>
              <a:ext cx="710625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46" name="Group 146"/>
          <p:cNvGrpSpPr/>
          <p:nvPr/>
        </p:nvGrpSpPr>
        <p:grpSpPr>
          <a:xfrm rot="-5400000">
            <a:off x="26874246" y="20260717"/>
            <a:ext cx="2192667" cy="3896880"/>
            <a:chOff x="0" y="0"/>
            <a:chExt cx="235816" cy="419100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235816" cy="419100"/>
            </a:xfrm>
            <a:custGeom>
              <a:avLst/>
              <a:gdLst/>
              <a:ahLst/>
              <a:cxnLst/>
              <a:rect l="l" t="t" r="r" b="b"/>
              <a:pathLst>
                <a:path w="235816" h="419100">
                  <a:moveTo>
                    <a:pt x="16224" y="0"/>
                  </a:moveTo>
                  <a:lnTo>
                    <a:pt x="32449" y="0"/>
                  </a:lnTo>
                  <a:cubicBezTo>
                    <a:pt x="140885" y="0"/>
                    <a:pt x="235816" y="93819"/>
                    <a:pt x="235816" y="209550"/>
                  </a:cubicBezTo>
                  <a:cubicBezTo>
                    <a:pt x="235816" y="325281"/>
                    <a:pt x="140885" y="419100"/>
                    <a:pt x="32449" y="419100"/>
                  </a:cubicBezTo>
                  <a:lnTo>
                    <a:pt x="16224" y="419100"/>
                  </a:lnTo>
                  <a:cubicBezTo>
                    <a:pt x="11921" y="419100"/>
                    <a:pt x="7795" y="417391"/>
                    <a:pt x="4752" y="414348"/>
                  </a:cubicBezTo>
                  <a:cubicBezTo>
                    <a:pt x="1709" y="411305"/>
                    <a:pt x="0" y="407179"/>
                    <a:pt x="0" y="402876"/>
                  </a:cubicBezTo>
                  <a:lnTo>
                    <a:pt x="0" y="16224"/>
                  </a:lnTo>
                  <a:cubicBezTo>
                    <a:pt x="0" y="11921"/>
                    <a:pt x="1709" y="7795"/>
                    <a:pt x="4752" y="4752"/>
                  </a:cubicBezTo>
                  <a:cubicBezTo>
                    <a:pt x="7795" y="1709"/>
                    <a:pt x="11921" y="0"/>
                    <a:pt x="16224" y="0"/>
                  </a:cubicBezTo>
                  <a:close/>
                </a:path>
              </a:pathLst>
            </a:custGeom>
            <a:solidFill>
              <a:srgbClr val="012034"/>
            </a:solidFill>
          </p:spPr>
        </p:sp>
        <p:sp>
          <p:nvSpPr>
            <p:cNvPr id="148" name="TextBox 148"/>
            <p:cNvSpPr txBox="1"/>
            <p:nvPr/>
          </p:nvSpPr>
          <p:spPr>
            <a:xfrm>
              <a:off x="25400" y="-95250"/>
              <a:ext cx="7216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49" name="Group 149"/>
          <p:cNvGrpSpPr/>
          <p:nvPr/>
        </p:nvGrpSpPr>
        <p:grpSpPr>
          <a:xfrm rot="-5400000">
            <a:off x="19534732" y="23530939"/>
            <a:ext cx="8733110" cy="3896880"/>
            <a:chOff x="0" y="0"/>
            <a:chExt cx="939225" cy="419100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939225" cy="419100"/>
            </a:xfrm>
            <a:custGeom>
              <a:avLst/>
              <a:gdLst/>
              <a:ahLst/>
              <a:cxnLst/>
              <a:rect l="l" t="t" r="r" b="b"/>
              <a:pathLst>
                <a:path w="939225" h="419100">
                  <a:moveTo>
                    <a:pt x="49201" y="0"/>
                  </a:moveTo>
                  <a:lnTo>
                    <a:pt x="719545" y="0"/>
                  </a:lnTo>
                  <a:cubicBezTo>
                    <a:pt x="844294" y="0"/>
                    <a:pt x="939225" y="93819"/>
                    <a:pt x="939225" y="209550"/>
                  </a:cubicBezTo>
                  <a:cubicBezTo>
                    <a:pt x="939225" y="325281"/>
                    <a:pt x="844294" y="419100"/>
                    <a:pt x="719545" y="419100"/>
                  </a:cubicBezTo>
                  <a:lnTo>
                    <a:pt x="49201" y="419100"/>
                  </a:lnTo>
                  <a:cubicBezTo>
                    <a:pt x="22028" y="419100"/>
                    <a:pt x="0" y="397072"/>
                    <a:pt x="0" y="369899"/>
                  </a:cubicBezTo>
                  <a:lnTo>
                    <a:pt x="0" y="49201"/>
                  </a:lnTo>
                  <a:cubicBezTo>
                    <a:pt x="0" y="22028"/>
                    <a:pt x="22028" y="0"/>
                    <a:pt x="49201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51" name="TextBox 151"/>
            <p:cNvSpPr txBox="1"/>
            <p:nvPr/>
          </p:nvSpPr>
          <p:spPr>
            <a:xfrm>
              <a:off x="25400" y="-95250"/>
              <a:ext cx="710625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52" name="Group 152"/>
          <p:cNvGrpSpPr/>
          <p:nvPr/>
        </p:nvGrpSpPr>
        <p:grpSpPr>
          <a:xfrm rot="-5400000">
            <a:off x="22804953" y="20260717"/>
            <a:ext cx="2192667" cy="3896880"/>
            <a:chOff x="0" y="0"/>
            <a:chExt cx="235816" cy="419100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235816" cy="419100"/>
            </a:xfrm>
            <a:custGeom>
              <a:avLst/>
              <a:gdLst/>
              <a:ahLst/>
              <a:cxnLst/>
              <a:rect l="l" t="t" r="r" b="b"/>
              <a:pathLst>
                <a:path w="235816" h="419100">
                  <a:moveTo>
                    <a:pt x="16224" y="0"/>
                  </a:moveTo>
                  <a:lnTo>
                    <a:pt x="32449" y="0"/>
                  </a:lnTo>
                  <a:cubicBezTo>
                    <a:pt x="140885" y="0"/>
                    <a:pt x="235816" y="93819"/>
                    <a:pt x="235816" y="209550"/>
                  </a:cubicBezTo>
                  <a:cubicBezTo>
                    <a:pt x="235816" y="325281"/>
                    <a:pt x="140885" y="419100"/>
                    <a:pt x="32449" y="419100"/>
                  </a:cubicBezTo>
                  <a:lnTo>
                    <a:pt x="16224" y="419100"/>
                  </a:lnTo>
                  <a:cubicBezTo>
                    <a:pt x="11921" y="419100"/>
                    <a:pt x="7795" y="417391"/>
                    <a:pt x="4752" y="414348"/>
                  </a:cubicBezTo>
                  <a:cubicBezTo>
                    <a:pt x="1709" y="411305"/>
                    <a:pt x="0" y="407179"/>
                    <a:pt x="0" y="402876"/>
                  </a:cubicBezTo>
                  <a:lnTo>
                    <a:pt x="0" y="16224"/>
                  </a:lnTo>
                  <a:cubicBezTo>
                    <a:pt x="0" y="11921"/>
                    <a:pt x="1709" y="7795"/>
                    <a:pt x="4752" y="4752"/>
                  </a:cubicBezTo>
                  <a:cubicBezTo>
                    <a:pt x="7795" y="1709"/>
                    <a:pt x="11921" y="0"/>
                    <a:pt x="16224" y="0"/>
                  </a:cubicBezTo>
                  <a:close/>
                </a:path>
              </a:pathLst>
            </a:custGeom>
            <a:solidFill>
              <a:srgbClr val="660E11"/>
            </a:solidFill>
          </p:spPr>
        </p:sp>
        <p:sp>
          <p:nvSpPr>
            <p:cNvPr id="154" name="TextBox 154"/>
            <p:cNvSpPr txBox="1"/>
            <p:nvPr/>
          </p:nvSpPr>
          <p:spPr>
            <a:xfrm>
              <a:off x="25400" y="-95250"/>
              <a:ext cx="7216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15213604" y="2104595"/>
            <a:ext cx="6089849" cy="3050712"/>
            <a:chOff x="0" y="-108047"/>
            <a:chExt cx="593864" cy="297497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6074" y="-108047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Keywords</a:t>
              </a:r>
            </a:p>
          </p:txBody>
        </p:sp>
      </p:grpSp>
      <p:sp>
        <p:nvSpPr>
          <p:cNvPr id="158" name="Freeform 158"/>
          <p:cNvSpPr/>
          <p:nvPr/>
        </p:nvSpPr>
        <p:spPr>
          <a:xfrm>
            <a:off x="21355016" y="3183529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59" name="Group 159"/>
          <p:cNvGrpSpPr/>
          <p:nvPr/>
        </p:nvGrpSpPr>
        <p:grpSpPr>
          <a:xfrm>
            <a:off x="15419615" y="4569893"/>
            <a:ext cx="3926252" cy="918551"/>
            <a:chOff x="0" y="0"/>
            <a:chExt cx="1733301" cy="405507"/>
          </a:xfrm>
        </p:grpSpPr>
        <p:sp>
          <p:nvSpPr>
            <p:cNvPr id="160" name="Freeform 160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57A86"/>
            </a:solidFill>
          </p:spPr>
        </p:sp>
        <p:sp>
          <p:nvSpPr>
            <p:cNvPr id="161" name="TextBox 161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 dirty="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safety</a:t>
              </a:r>
            </a:p>
          </p:txBody>
        </p:sp>
      </p:grpSp>
      <p:grpSp>
        <p:nvGrpSpPr>
          <p:cNvPr id="162" name="Group 162"/>
          <p:cNvGrpSpPr/>
          <p:nvPr/>
        </p:nvGrpSpPr>
        <p:grpSpPr>
          <a:xfrm>
            <a:off x="16626207" y="5724389"/>
            <a:ext cx="3926252" cy="918551"/>
            <a:chOff x="0" y="0"/>
            <a:chExt cx="1733301" cy="405507"/>
          </a:xfrm>
        </p:grpSpPr>
        <p:sp>
          <p:nvSpPr>
            <p:cNvPr id="163" name="Freeform 163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64" name="TextBox 164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 dirty="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redesign</a:t>
              </a:r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19843936" y="4559866"/>
            <a:ext cx="3926252" cy="918551"/>
            <a:chOff x="0" y="0"/>
            <a:chExt cx="1733301" cy="405507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67" name="TextBox 167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 dirty="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evaluation</a:t>
              </a:r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21050528" y="5714362"/>
            <a:ext cx="3926252" cy="918551"/>
            <a:chOff x="0" y="0"/>
            <a:chExt cx="1733301" cy="405507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57A86"/>
            </a:solidFill>
          </p:spPr>
        </p:sp>
        <p:sp>
          <p:nvSpPr>
            <p:cNvPr id="170" name="TextBox 170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 dirty="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cold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24268606" y="4451920"/>
            <a:ext cx="3926252" cy="918551"/>
            <a:chOff x="0" y="0"/>
            <a:chExt cx="1733301" cy="405507"/>
          </a:xfrm>
        </p:grpSpPr>
        <p:sp>
          <p:nvSpPr>
            <p:cNvPr id="172" name="Freeform 172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73" name="TextBox 173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 dirty="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risks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25475198" y="5724389"/>
            <a:ext cx="3926252" cy="918551"/>
            <a:chOff x="0" y="0"/>
            <a:chExt cx="1733301" cy="405507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76" name="TextBox 176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 dirty="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Simulation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15138000" y="36678838"/>
            <a:ext cx="6032670" cy="3050712"/>
            <a:chOff x="0" y="-91551"/>
            <a:chExt cx="588288" cy="297497"/>
          </a:xfrm>
        </p:grpSpPr>
        <p:sp>
          <p:nvSpPr>
            <p:cNvPr id="178" name="Freeform 178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498" y="-91551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References</a:t>
              </a:r>
            </a:p>
          </p:txBody>
        </p:sp>
      </p:grpSp>
      <p:sp>
        <p:nvSpPr>
          <p:cNvPr id="180" name="Freeform 180"/>
          <p:cNvSpPr/>
          <p:nvPr/>
        </p:nvSpPr>
        <p:spPr>
          <a:xfrm>
            <a:off x="21303453" y="37617657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2"/>
                </a:lnTo>
                <a:lnTo>
                  <a:pt x="0" y="1097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81" name="Group 181"/>
          <p:cNvGrpSpPr/>
          <p:nvPr/>
        </p:nvGrpSpPr>
        <p:grpSpPr>
          <a:xfrm>
            <a:off x="15163781" y="30599527"/>
            <a:ext cx="6118675" cy="3050712"/>
            <a:chOff x="0" y="-94429"/>
            <a:chExt cx="596675" cy="297497"/>
          </a:xfrm>
        </p:grpSpPr>
        <p:sp>
          <p:nvSpPr>
            <p:cNvPr id="182" name="Freeform 182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8885" y="-94429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Contacts</a:t>
              </a:r>
            </a:p>
          </p:txBody>
        </p:sp>
      </p:grpSp>
      <p:sp>
        <p:nvSpPr>
          <p:cNvPr id="184" name="Freeform 184"/>
          <p:cNvSpPr/>
          <p:nvPr/>
        </p:nvSpPr>
        <p:spPr>
          <a:xfrm>
            <a:off x="21329234" y="31567858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2"/>
                </a:lnTo>
                <a:lnTo>
                  <a:pt x="0" y="1097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sp>
        <p:nvSpPr>
          <p:cNvPr id="185" name="Freeform 185"/>
          <p:cNvSpPr/>
          <p:nvPr/>
        </p:nvSpPr>
        <p:spPr>
          <a:xfrm>
            <a:off x="51563" y="42475218"/>
            <a:ext cx="30276000" cy="1551645"/>
          </a:xfrm>
          <a:custGeom>
            <a:avLst/>
            <a:gdLst/>
            <a:ahLst/>
            <a:cxnLst/>
            <a:rect l="l" t="t" r="r" b="b"/>
            <a:pathLst>
              <a:path w="30276000" h="1551645">
                <a:moveTo>
                  <a:pt x="0" y="0"/>
                </a:moveTo>
                <a:lnTo>
                  <a:pt x="30276000" y="0"/>
                </a:lnTo>
                <a:lnTo>
                  <a:pt x="30276000" y="1551645"/>
                </a:lnTo>
                <a:lnTo>
                  <a:pt x="0" y="15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6" name="Freeform 186"/>
          <p:cNvSpPr/>
          <p:nvPr/>
        </p:nvSpPr>
        <p:spPr>
          <a:xfrm>
            <a:off x="23147024" y="31830273"/>
            <a:ext cx="5440226" cy="5493824"/>
          </a:xfrm>
          <a:custGeom>
            <a:avLst/>
            <a:gdLst/>
            <a:ahLst/>
            <a:cxnLst/>
            <a:rect l="l" t="t" r="r" b="b"/>
            <a:pathLst>
              <a:path w="5440226" h="5493824">
                <a:moveTo>
                  <a:pt x="0" y="0"/>
                </a:moveTo>
                <a:lnTo>
                  <a:pt x="5440226" y="0"/>
                </a:lnTo>
                <a:lnTo>
                  <a:pt x="5440226" y="5493824"/>
                </a:lnTo>
                <a:lnTo>
                  <a:pt x="0" y="54938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7" name="TextBox 187"/>
          <p:cNvSpPr txBox="1"/>
          <p:nvPr/>
        </p:nvSpPr>
        <p:spPr>
          <a:xfrm>
            <a:off x="4713271" y="33076682"/>
            <a:ext cx="5394669" cy="17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Rediseño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del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área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trabajo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y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elaboración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del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informe</a:t>
            </a:r>
            <a:endParaRPr lang="en-US" sz="2600" dirty="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Rediseño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puestos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trabajo</a:t>
            </a:r>
            <a:endParaRPr lang="en-US" sz="2600" dirty="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Simulaciones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nuevos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diseños</a:t>
            </a:r>
            <a:endParaRPr lang="en-US" sz="2600" dirty="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Redacción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del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informe</a:t>
            </a:r>
            <a:endParaRPr lang="en-US" sz="2600" dirty="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88" name="TextBox 188"/>
          <p:cNvSpPr txBox="1"/>
          <p:nvPr/>
        </p:nvSpPr>
        <p:spPr>
          <a:xfrm>
            <a:off x="4248209" y="30833558"/>
            <a:ext cx="5394669" cy="139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Risk Assessment</a:t>
            </a:r>
          </a:p>
          <a:p>
            <a:pPr marL="457200" indent="-457200" algn="just">
              <a:lnSpc>
                <a:spcPts val="273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Personnel survey</a:t>
            </a:r>
          </a:p>
          <a:p>
            <a:pPr marL="457200" indent="-457200" algn="just">
              <a:lnSpc>
                <a:spcPts val="273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Ergonomic risk assessment</a:t>
            </a:r>
          </a:p>
          <a:p>
            <a:pPr marL="457200" indent="-457200" algn="just">
              <a:lnSpc>
                <a:spcPts val="273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Cold exposure risk assessment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9531818" y="22756681"/>
            <a:ext cx="1842372" cy="70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Specific Objective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4925734" y="21847119"/>
            <a:ext cx="4237352" cy="2085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evaluate existing occupational risks in logistics workstations and their potential health consequences in order to determine exposure and severity levels.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885465" y="15859956"/>
            <a:ext cx="1559760" cy="70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General Objective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2874363" y="14844760"/>
            <a:ext cx="4237352" cy="173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design a workstation and propose occupational safety improvements in the logistics area of a dairy company in the city of Cuenca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8198683" y="16701517"/>
            <a:ext cx="2675423" cy="277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identify the main types of occupational risk factors affecting workers in the logistics area of the case study company.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913596" y="3142402"/>
            <a:ext cx="13416285" cy="216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65"/>
              </a:lnSpc>
            </a:pPr>
            <a:r>
              <a:rPr lang="en-US" sz="5300" b="1" dirty="0">
                <a:solidFill>
                  <a:srgbClr val="1004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Workstation Redesign Based on an Occupational Risk Assessment in the Logistics Area of a Dairy Company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656616" y="5514762"/>
            <a:ext cx="13404586" cy="240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9" lvl="1" indent="-474984" algn="just">
              <a:lnSpc>
                <a:spcPts val="6160"/>
              </a:lnSpc>
              <a:buFont typeface="Arial"/>
              <a:buChar char="•"/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Julio César Ortiz Cruz</a:t>
            </a:r>
          </a:p>
          <a:p>
            <a:pPr marL="949969" lvl="1" indent="-474984" algn="just">
              <a:lnSpc>
                <a:spcPts val="6160"/>
              </a:lnSpc>
              <a:buFont typeface="Arial"/>
              <a:buChar char="•"/>
            </a:pPr>
            <a:r>
              <a:rPr lang="en-US" sz="4400" b="1" dirty="0">
                <a:solidFill>
                  <a:srgbClr val="1004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Advisor: 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Paulina Rebeca Espinoza Hernández</a:t>
            </a:r>
          </a:p>
          <a:p>
            <a:pPr algn="just">
              <a:lnSpc>
                <a:spcPts val="6160"/>
              </a:lnSpc>
              <a:spcBef>
                <a:spcPct val="0"/>
              </a:spcBef>
            </a:pPr>
            <a:endParaRPr lang="en-US" sz="4400" dirty="0">
              <a:solidFill>
                <a:srgbClr val="10045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96" name="TextBox 196"/>
          <p:cNvSpPr txBox="1"/>
          <p:nvPr/>
        </p:nvSpPr>
        <p:spPr>
          <a:xfrm>
            <a:off x="663717" y="9692063"/>
            <a:ext cx="13666164" cy="237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study assessed occupational risks in the logistics area of a dairy company in Cuenca in order to redesign workstations, reduce health impacts, and maintain productivity.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1711687" y="23699773"/>
            <a:ext cx="1782892" cy="67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499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Specific Objective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1158593" y="18649662"/>
            <a:ext cx="2675423" cy="486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design and simulate workstations in the logistics area based on the assessed risks and applicable regulations, and to prepare a report including guidelines, equipment proposals, and recommendations</a:t>
            </a:r>
          </a:p>
        </p:txBody>
      </p:sp>
      <p:sp>
        <p:nvSpPr>
          <p:cNvPr id="199" name="TextBox 199"/>
          <p:cNvSpPr txBox="1"/>
          <p:nvPr/>
        </p:nvSpPr>
        <p:spPr>
          <a:xfrm>
            <a:off x="8662083" y="14909637"/>
            <a:ext cx="1782892" cy="70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Specific Objective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51563" y="37185309"/>
            <a:ext cx="6792027" cy="4731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ts val="462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Occupational Safety and Health: Application of regulations</a:t>
            </a:r>
          </a:p>
          <a:p>
            <a:pPr marL="571500" indent="-571500" algn="just">
              <a:lnSpc>
                <a:spcPts val="462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Process Engineering and Ergonomics: Workstation redesign</a:t>
            </a:r>
          </a:p>
          <a:p>
            <a:pPr marL="571500" indent="-571500" algn="just">
              <a:lnSpc>
                <a:spcPts val="462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Production Simulation: Modeling and simulation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7675847" y="37609847"/>
            <a:ext cx="6165453" cy="355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Engineering Standards: General Regulation of Occupational Risk Insurance</a:t>
            </a:r>
          </a:p>
          <a:p>
            <a:pPr algn="just">
              <a:lnSpc>
                <a:spcPts val="4620"/>
              </a:lnSpc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Economic and Safety Constraints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16258962" y="9926024"/>
            <a:ext cx="8600196" cy="104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was determined that workers in the cold storage and logistics areas are mainly exposed to ergonomic risks and physical risks due to low temperatures.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20171568" y="13036470"/>
            <a:ext cx="8600196" cy="144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application of methods such as REBA, RULA, and the OCRA Checklist, together with the Nordic Questionnaire, showed that several workstations present risk levels that require intervention.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16258962" y="16029990"/>
            <a:ext cx="8600196" cy="139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application of methods such as REBA, RULA, and the OCRA Checklist, together with the Nordic Questionnaire, showed that several workstations present risk levels that require intervention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14838275" y="22036749"/>
            <a:ext cx="1842372" cy="70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 1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18911771" y="22036749"/>
            <a:ext cx="1842372" cy="70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 2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27049393" y="22036749"/>
            <a:ext cx="1842372" cy="70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 4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22980101" y="22036749"/>
            <a:ext cx="1842372" cy="70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Conclusipn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3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4421749" y="24387581"/>
            <a:ext cx="2675423" cy="4162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study fully achieved the proposed objectives, demonstrating that the joint assessment of ergonomic risks and thermal stress, supported by current regulations.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18495245" y="24419916"/>
            <a:ext cx="2675423" cy="381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was evidenced that workers in the logistics area are exposed to significant risk factors, such as awkward postures, repetitive movements, and manual handling of loads.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22533872" y="24457498"/>
            <a:ext cx="2675423" cy="418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design and simulation of the proposed workstations proved to be effective tools for reducing the identified risks, allowing the validation of ergonomic improvements.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26726026" y="24586579"/>
            <a:ext cx="2675423" cy="277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proposed corrective actions, many of them low-cost, show that it is possible to improve workers’ safety and well-being.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15189563" y="39060999"/>
            <a:ext cx="13952772" cy="2083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8"/>
              </a:lnSpc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General Occupational Risk Insurance Regulation (2017)</a:t>
            </a:r>
          </a:p>
          <a:p>
            <a:pPr algn="l">
              <a:lnSpc>
                <a:spcPts val="4048"/>
              </a:lnSpc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Occupational Safety and Health Regulation (2024)</a:t>
            </a:r>
          </a:p>
          <a:p>
            <a:pPr algn="l">
              <a:lnSpc>
                <a:spcPts val="4048"/>
              </a:lnSpc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Technical Standard on Occupational Safety and Hygiene (2024)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15215344" y="33011200"/>
            <a:ext cx="6950604" cy="214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8"/>
              </a:lnSpc>
            </a:pPr>
            <a:r>
              <a:rPr lang="en-US" sz="440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Julio César Ortiz Cruz</a:t>
            </a:r>
          </a:p>
          <a:p>
            <a:pPr algn="l">
              <a:lnSpc>
                <a:spcPts val="4048"/>
              </a:lnSpc>
            </a:pPr>
            <a:r>
              <a:rPr lang="en-US" sz="440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julio.ortiz@ucuenca,edu,ec</a:t>
            </a:r>
          </a:p>
          <a:p>
            <a:pPr algn="l">
              <a:lnSpc>
                <a:spcPts val="4048"/>
              </a:lnSpc>
            </a:pPr>
            <a:endParaRPr lang="en-US" sz="4400">
              <a:solidFill>
                <a:srgbClr val="10045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4048"/>
              </a:lnSpc>
            </a:pPr>
            <a:r>
              <a:rPr lang="en-US" sz="440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099 881 0141</a:t>
            </a:r>
          </a:p>
        </p:txBody>
      </p:sp>
      <p:sp>
        <p:nvSpPr>
          <p:cNvPr id="217" name="CuadroTexto 216">
            <a:extLst>
              <a:ext uri="{FF2B5EF4-FFF2-40B4-BE49-F238E27FC236}">
                <a16:creationId xmlns:a16="http://schemas.microsoft.com/office/drawing/2014/main" id="{03BDDA29-A12E-D6F6-9B91-CF61E1B8D737}"/>
              </a:ext>
            </a:extLst>
          </p:cNvPr>
          <p:cNvSpPr txBox="1"/>
          <p:nvPr/>
        </p:nvSpPr>
        <p:spPr>
          <a:xfrm>
            <a:off x="17959076" y="1258650"/>
            <a:ext cx="14500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8000" b="1" dirty="0">
                <a:solidFill>
                  <a:schemeClr val="bg1"/>
                </a:solidFill>
              </a:rPr>
              <a:t>INDUSTRIAL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2367</TotalTime>
  <Words>504</Words>
  <Application>Microsoft Office PowerPoint</Application>
  <PresentationFormat>Personalizado</PresentationFormat>
  <Paragraphs>68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Times New Roman MT Bold</vt:lpstr>
      <vt:lpstr>Calibri</vt:lpstr>
      <vt:lpstr>Times New Roman MT</vt:lpstr>
      <vt:lpstr>Aptos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Formato Póster Tesis Ingeniería Industrial</dc:title>
  <dc:creator>Julio Ortiz</dc:creator>
  <cp:lastModifiedBy>Julio Cesar Ortiz Cruz</cp:lastModifiedBy>
  <cp:revision>5</cp:revision>
  <dcterms:created xsi:type="dcterms:W3CDTF">2006-08-16T00:00:00Z</dcterms:created>
  <dcterms:modified xsi:type="dcterms:W3CDTF">2026-01-08T15:42:07Z</dcterms:modified>
  <dc:identifier>DAG8SU5tJog</dc:identifier>
</cp:coreProperties>
</file>